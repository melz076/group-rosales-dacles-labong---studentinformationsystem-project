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Poppins Bold" charset="1" panose="00000800000000000000"/>
      <p:regular r:id="rId27"/>
    </p:embeddedFont>
    <p:embeddedFont>
      <p:font typeface="Poppins" charset="1" panose="000005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4281" y="-986700"/>
            <a:ext cx="18512281" cy="12260400"/>
          </a:xfrm>
          <a:custGeom>
            <a:avLst/>
            <a:gdLst/>
            <a:ahLst/>
            <a:cxnLst/>
            <a:rect r="r" b="b" t="t" l="l"/>
            <a:pathLst>
              <a:path h="12260400" w="18512281">
                <a:moveTo>
                  <a:pt x="0" y="0"/>
                </a:moveTo>
                <a:lnTo>
                  <a:pt x="18512281" y="0"/>
                </a:lnTo>
                <a:lnTo>
                  <a:pt x="18512281" y="12260400"/>
                </a:lnTo>
                <a:lnTo>
                  <a:pt x="0" y="12260400"/>
                </a:lnTo>
                <a:lnTo>
                  <a:pt x="0" y="0"/>
                </a:lnTo>
                <a:close/>
              </a:path>
            </a:pathLst>
          </a:custGeom>
          <a:blipFill>
            <a:blip r:embed="rId2"/>
            <a:stretch>
              <a:fillRect l="0" t="-330" r="0" b="-330"/>
            </a:stretch>
          </a:blipFill>
        </p:spPr>
      </p:sp>
      <p:grpSp>
        <p:nvGrpSpPr>
          <p:cNvPr name="Group 3" id="3"/>
          <p:cNvGrpSpPr/>
          <p:nvPr/>
        </p:nvGrpSpPr>
        <p:grpSpPr>
          <a:xfrm rot="0">
            <a:off x="-1767331" y="-346893"/>
            <a:ext cx="22867670" cy="11354587"/>
            <a:chOff x="0" y="0"/>
            <a:chExt cx="6022761" cy="2990509"/>
          </a:xfrm>
        </p:grpSpPr>
        <p:sp>
          <p:nvSpPr>
            <p:cNvPr name="Freeform 4" id="4"/>
            <p:cNvSpPr/>
            <p:nvPr/>
          </p:nvSpPr>
          <p:spPr>
            <a:xfrm flipH="false" flipV="false" rot="0">
              <a:off x="0" y="0"/>
              <a:ext cx="6022761" cy="2990509"/>
            </a:xfrm>
            <a:custGeom>
              <a:avLst/>
              <a:gdLst/>
              <a:ahLst/>
              <a:cxnLst/>
              <a:rect r="r" b="b" t="t" l="l"/>
              <a:pathLst>
                <a:path h="2990509" w="6022761">
                  <a:moveTo>
                    <a:pt x="0" y="0"/>
                  </a:moveTo>
                  <a:lnTo>
                    <a:pt x="6022761" y="0"/>
                  </a:lnTo>
                  <a:lnTo>
                    <a:pt x="6022761" y="2990509"/>
                  </a:lnTo>
                  <a:lnTo>
                    <a:pt x="0" y="2990509"/>
                  </a:lnTo>
                  <a:close/>
                </a:path>
              </a:pathLst>
            </a:custGeom>
            <a:solidFill>
              <a:srgbClr val="1D2C39">
                <a:alpha val="46667"/>
              </a:srgbClr>
            </a:solidFill>
          </p:spPr>
        </p:sp>
        <p:sp>
          <p:nvSpPr>
            <p:cNvPr name="TextBox 5" id="5"/>
            <p:cNvSpPr txBox="true"/>
            <p:nvPr/>
          </p:nvSpPr>
          <p:spPr>
            <a:xfrm>
              <a:off x="0" y="-38100"/>
              <a:ext cx="6022761" cy="3028609"/>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14931" y="-194493"/>
            <a:ext cx="22867670" cy="11354587"/>
            <a:chOff x="0" y="0"/>
            <a:chExt cx="6022761" cy="2990509"/>
          </a:xfrm>
        </p:grpSpPr>
        <p:sp>
          <p:nvSpPr>
            <p:cNvPr name="Freeform 7" id="7"/>
            <p:cNvSpPr/>
            <p:nvPr/>
          </p:nvSpPr>
          <p:spPr>
            <a:xfrm flipH="false" flipV="false" rot="0">
              <a:off x="0" y="0"/>
              <a:ext cx="6022761" cy="2990509"/>
            </a:xfrm>
            <a:custGeom>
              <a:avLst/>
              <a:gdLst/>
              <a:ahLst/>
              <a:cxnLst/>
              <a:rect r="r" b="b" t="t" l="l"/>
              <a:pathLst>
                <a:path h="2990509" w="6022761">
                  <a:moveTo>
                    <a:pt x="0" y="0"/>
                  </a:moveTo>
                  <a:lnTo>
                    <a:pt x="6022761" y="0"/>
                  </a:lnTo>
                  <a:lnTo>
                    <a:pt x="6022761" y="2990509"/>
                  </a:lnTo>
                  <a:lnTo>
                    <a:pt x="0" y="2990509"/>
                  </a:lnTo>
                  <a:close/>
                </a:path>
              </a:pathLst>
            </a:custGeom>
            <a:solidFill>
              <a:srgbClr val="1D2C39">
                <a:alpha val="46667"/>
              </a:srgbClr>
            </a:solidFill>
          </p:spPr>
        </p:sp>
        <p:sp>
          <p:nvSpPr>
            <p:cNvPr name="TextBox 8" id="8"/>
            <p:cNvSpPr txBox="true"/>
            <p:nvPr/>
          </p:nvSpPr>
          <p:spPr>
            <a:xfrm>
              <a:off x="0" y="-38100"/>
              <a:ext cx="6022761" cy="3028609"/>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62531" y="-42093"/>
            <a:ext cx="22867670" cy="11354587"/>
            <a:chOff x="0" y="0"/>
            <a:chExt cx="6022761" cy="2990509"/>
          </a:xfrm>
        </p:grpSpPr>
        <p:sp>
          <p:nvSpPr>
            <p:cNvPr name="Freeform 10" id="10"/>
            <p:cNvSpPr/>
            <p:nvPr/>
          </p:nvSpPr>
          <p:spPr>
            <a:xfrm flipH="false" flipV="false" rot="0">
              <a:off x="0" y="0"/>
              <a:ext cx="6022761" cy="2990509"/>
            </a:xfrm>
            <a:custGeom>
              <a:avLst/>
              <a:gdLst/>
              <a:ahLst/>
              <a:cxnLst/>
              <a:rect r="r" b="b" t="t" l="l"/>
              <a:pathLst>
                <a:path h="2990509" w="6022761">
                  <a:moveTo>
                    <a:pt x="0" y="0"/>
                  </a:moveTo>
                  <a:lnTo>
                    <a:pt x="6022761" y="0"/>
                  </a:lnTo>
                  <a:lnTo>
                    <a:pt x="6022761" y="2990509"/>
                  </a:lnTo>
                  <a:lnTo>
                    <a:pt x="0" y="2990509"/>
                  </a:lnTo>
                  <a:close/>
                </a:path>
              </a:pathLst>
            </a:custGeom>
            <a:solidFill>
              <a:srgbClr val="001D4A">
                <a:alpha val="46667"/>
              </a:srgbClr>
            </a:solidFill>
          </p:spPr>
        </p:sp>
        <p:sp>
          <p:nvSpPr>
            <p:cNvPr name="TextBox 11" id="11"/>
            <p:cNvSpPr txBox="true"/>
            <p:nvPr/>
          </p:nvSpPr>
          <p:spPr>
            <a:xfrm>
              <a:off x="0" y="-38100"/>
              <a:ext cx="6022761" cy="3028609"/>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938988" y="2888822"/>
            <a:ext cx="13958445" cy="3260882"/>
          </a:xfrm>
          <a:prstGeom prst="rect">
            <a:avLst/>
          </a:prstGeom>
        </p:spPr>
        <p:txBody>
          <a:bodyPr anchor="t" rtlCol="false" tIns="0" lIns="0" bIns="0" rIns="0">
            <a:spAutoFit/>
          </a:bodyPr>
          <a:lstStyle/>
          <a:p>
            <a:pPr algn="l">
              <a:lnSpc>
                <a:spcPts val="8197"/>
              </a:lnSpc>
            </a:pPr>
            <a:r>
              <a:rPr lang="en-US" sz="8539" spc="-350" b="true">
                <a:solidFill>
                  <a:srgbClr val="FFFFFF"/>
                </a:solidFill>
                <a:latin typeface="Poppins Bold"/>
                <a:ea typeface="Poppins Bold"/>
                <a:cs typeface="Poppins Bold"/>
                <a:sym typeface="Poppins Bold"/>
              </a:rPr>
              <a:t>Stu</a:t>
            </a:r>
            <a:r>
              <a:rPr lang="en-US" b="true" sz="8539" spc="-350">
                <a:solidFill>
                  <a:srgbClr val="FFFFFF"/>
                </a:solidFill>
                <a:latin typeface="Poppins Bold"/>
                <a:ea typeface="Poppins Bold"/>
                <a:cs typeface="Poppins Bold"/>
                <a:sym typeface="Poppins Bold"/>
              </a:rPr>
              <a:t>dent Information System (SIS) </a:t>
            </a:r>
            <a:r>
              <a:rPr lang="en-US" sz="8539" spc="-350" b="true">
                <a:solidFill>
                  <a:srgbClr val="ECA400"/>
                </a:solidFill>
                <a:latin typeface="Poppins Bold"/>
                <a:ea typeface="Poppins Bold"/>
                <a:cs typeface="Poppins Bold"/>
                <a:sym typeface="Poppins Bold"/>
              </a:rPr>
              <a:t>Database Optimization</a:t>
            </a:r>
          </a:p>
        </p:txBody>
      </p:sp>
      <p:sp>
        <p:nvSpPr>
          <p:cNvPr name="AutoShape 13" id="13"/>
          <p:cNvSpPr/>
          <p:nvPr/>
        </p:nvSpPr>
        <p:spPr>
          <a:xfrm>
            <a:off x="938988" y="6504137"/>
            <a:ext cx="6492240" cy="0"/>
          </a:xfrm>
          <a:prstGeom prst="line">
            <a:avLst/>
          </a:prstGeom>
          <a:ln cap="flat" w="38100">
            <a:solidFill>
              <a:srgbClr val="FFFFFF"/>
            </a:solidFill>
            <a:prstDash val="solid"/>
            <a:headEnd type="none" len="sm" w="sm"/>
            <a:tailEnd type="none" len="sm" w="sm"/>
          </a:ln>
        </p:spPr>
      </p:sp>
      <p:sp>
        <p:nvSpPr>
          <p:cNvPr name="TextBox 14" id="14"/>
          <p:cNvSpPr txBox="true"/>
          <p:nvPr/>
        </p:nvSpPr>
        <p:spPr>
          <a:xfrm rot="0">
            <a:off x="938988" y="6789887"/>
            <a:ext cx="2937991" cy="1209498"/>
          </a:xfrm>
          <a:prstGeom prst="rect">
            <a:avLst/>
          </a:prstGeom>
        </p:spPr>
        <p:txBody>
          <a:bodyPr anchor="t" rtlCol="false" tIns="0" lIns="0" bIns="0" rIns="0">
            <a:spAutoFit/>
          </a:bodyPr>
          <a:lstStyle/>
          <a:p>
            <a:pPr algn="l">
              <a:lnSpc>
                <a:spcPts val="3159"/>
              </a:lnSpc>
            </a:pPr>
            <a:r>
              <a:rPr lang="en-US" sz="2256">
                <a:solidFill>
                  <a:srgbClr val="FFFFFF"/>
                </a:solidFill>
                <a:latin typeface="Poppins"/>
                <a:ea typeface="Poppins"/>
                <a:cs typeface="Poppins"/>
                <a:sym typeface="Poppins"/>
              </a:rPr>
              <a:t>Rosales, Melchor</a:t>
            </a:r>
          </a:p>
          <a:p>
            <a:pPr algn="l">
              <a:lnSpc>
                <a:spcPts val="3159"/>
              </a:lnSpc>
            </a:pPr>
            <a:r>
              <a:rPr lang="en-US" sz="2256">
                <a:solidFill>
                  <a:srgbClr val="FFFFFF"/>
                </a:solidFill>
                <a:latin typeface="Poppins"/>
                <a:ea typeface="Poppins"/>
                <a:cs typeface="Poppins"/>
                <a:sym typeface="Poppins"/>
              </a:rPr>
              <a:t>Dacles, Kristel Joy</a:t>
            </a:r>
          </a:p>
          <a:p>
            <a:pPr algn="l">
              <a:lnSpc>
                <a:spcPts val="3159"/>
              </a:lnSpc>
            </a:pPr>
            <a:r>
              <a:rPr lang="en-US" sz="2256">
                <a:solidFill>
                  <a:srgbClr val="FFFFFF"/>
                </a:solidFill>
                <a:latin typeface="Poppins"/>
                <a:ea typeface="Poppins"/>
                <a:cs typeface="Poppins"/>
                <a:sym typeface="Poppins"/>
              </a:rPr>
              <a:t>labong, Jayboy</a:t>
            </a:r>
          </a:p>
        </p:txBody>
      </p:sp>
      <p:sp>
        <p:nvSpPr>
          <p:cNvPr name="TextBox 15" id="15"/>
          <p:cNvSpPr txBox="true"/>
          <p:nvPr/>
        </p:nvSpPr>
        <p:spPr>
          <a:xfrm rot="0">
            <a:off x="938988" y="860174"/>
            <a:ext cx="2937991" cy="409398"/>
          </a:xfrm>
          <a:prstGeom prst="rect">
            <a:avLst/>
          </a:prstGeom>
        </p:spPr>
        <p:txBody>
          <a:bodyPr anchor="t" rtlCol="false" tIns="0" lIns="0" bIns="0" rIns="0">
            <a:spAutoFit/>
          </a:bodyPr>
          <a:lstStyle/>
          <a:p>
            <a:pPr algn="l">
              <a:lnSpc>
                <a:spcPts val="3159"/>
              </a:lnSpc>
            </a:pPr>
            <a:r>
              <a:rPr lang="en-US" sz="2256">
                <a:solidFill>
                  <a:srgbClr val="FFFFFF"/>
                </a:solidFill>
                <a:latin typeface="Poppins"/>
                <a:ea typeface="Poppins"/>
                <a:cs typeface="Poppins"/>
                <a:sym typeface="Poppins"/>
              </a:rPr>
              <a:t>MCO- 1 ITE-5</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5943" y="1143000"/>
            <a:ext cx="6940565" cy="1184283"/>
          </a:xfrm>
          <a:prstGeom prst="rect">
            <a:avLst/>
          </a:prstGeom>
        </p:spPr>
        <p:txBody>
          <a:bodyPr anchor="t" rtlCol="false" tIns="0" lIns="0" bIns="0" rIns="0">
            <a:spAutoFit/>
          </a:bodyPr>
          <a:lstStyle/>
          <a:p>
            <a:pPr algn="l">
              <a:lnSpc>
                <a:spcPts val="8197"/>
              </a:lnSpc>
            </a:pPr>
            <a:r>
              <a:rPr lang="en-US" sz="8539" spc="-350" b="true">
                <a:solidFill>
                  <a:srgbClr val="ECA400"/>
                </a:solidFill>
                <a:latin typeface="Poppins Bold"/>
                <a:ea typeface="Poppins Bold"/>
                <a:cs typeface="Poppins Bold"/>
                <a:sym typeface="Poppins Bold"/>
              </a:rPr>
              <a:t>OBJECTIVES: </a:t>
            </a:r>
          </a:p>
        </p:txBody>
      </p:sp>
      <p:sp>
        <p:nvSpPr>
          <p:cNvPr name="TextBox 3" id="3"/>
          <p:cNvSpPr txBox="true"/>
          <p:nvPr/>
        </p:nvSpPr>
        <p:spPr>
          <a:xfrm rot="0">
            <a:off x="1425943" y="2867087"/>
            <a:ext cx="15833357" cy="4672843"/>
          </a:xfrm>
          <a:prstGeom prst="rect">
            <a:avLst/>
          </a:prstGeom>
        </p:spPr>
        <p:txBody>
          <a:bodyPr anchor="t" rtlCol="false" tIns="0" lIns="0" bIns="0" rIns="0">
            <a:spAutoFit/>
          </a:bodyPr>
          <a:lstStyle/>
          <a:p>
            <a:pPr algn="just">
              <a:lnSpc>
                <a:spcPts val="4099"/>
              </a:lnSpc>
            </a:pPr>
            <a:r>
              <a:rPr lang="en-US" sz="2928">
                <a:solidFill>
                  <a:srgbClr val="000000"/>
                </a:solidFill>
                <a:latin typeface="Poppins"/>
                <a:ea typeface="Poppins"/>
                <a:cs typeface="Poppins"/>
                <a:sym typeface="Poppins"/>
              </a:rPr>
              <a:t> The core purpose of this project is to evaluate and optimize the existing relational database structure (schema) for a Student Information System (SIS). This includes a detailed analysis of the schema's design, focusing on critical factors such as quality, reliability, scalability, efficiency, effectiveness, and security. We will identify and correct structural issues, including data redundancy and normalization problems. The final result will be a complete redesign that produces an optimized database schema a robust, improved structure that guarantees better data integrity and high performance for all operations within the SIS.</a:t>
            </a:r>
          </a:p>
          <a:p>
            <a:pPr algn="just">
              <a:lnSpc>
                <a:spcPts val="40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44869" y="2327283"/>
            <a:ext cx="13363916" cy="7634137"/>
          </a:xfrm>
          <a:custGeom>
            <a:avLst/>
            <a:gdLst/>
            <a:ahLst/>
            <a:cxnLst/>
            <a:rect r="r" b="b" t="t" l="l"/>
            <a:pathLst>
              <a:path h="7634137" w="13363916">
                <a:moveTo>
                  <a:pt x="0" y="0"/>
                </a:moveTo>
                <a:lnTo>
                  <a:pt x="13363916" y="0"/>
                </a:lnTo>
                <a:lnTo>
                  <a:pt x="13363916" y="7634138"/>
                </a:lnTo>
                <a:lnTo>
                  <a:pt x="0" y="7634138"/>
                </a:lnTo>
                <a:lnTo>
                  <a:pt x="0" y="0"/>
                </a:lnTo>
                <a:close/>
              </a:path>
            </a:pathLst>
          </a:custGeom>
          <a:blipFill>
            <a:blip r:embed="rId2"/>
            <a:stretch>
              <a:fillRect l="0" t="0" r="0" b="0"/>
            </a:stretch>
          </a:blipFill>
        </p:spPr>
      </p:sp>
      <p:sp>
        <p:nvSpPr>
          <p:cNvPr name="TextBox 3" id="3"/>
          <p:cNvSpPr txBox="true"/>
          <p:nvPr/>
        </p:nvSpPr>
        <p:spPr>
          <a:xfrm rot="0">
            <a:off x="5777809" y="1143000"/>
            <a:ext cx="9930976" cy="1184283"/>
          </a:xfrm>
          <a:prstGeom prst="rect">
            <a:avLst/>
          </a:prstGeom>
        </p:spPr>
        <p:txBody>
          <a:bodyPr anchor="t" rtlCol="false" tIns="0" lIns="0" bIns="0" rIns="0">
            <a:spAutoFit/>
          </a:bodyPr>
          <a:lstStyle/>
          <a:p>
            <a:pPr algn="l">
              <a:lnSpc>
                <a:spcPts val="8197"/>
              </a:lnSpc>
            </a:pPr>
            <a:r>
              <a:rPr lang="en-US" sz="8539" spc="-350" b="true">
                <a:solidFill>
                  <a:srgbClr val="ECA400"/>
                </a:solidFill>
                <a:latin typeface="Poppins Bold"/>
                <a:ea typeface="Poppins Bold"/>
                <a:cs typeface="Poppins Bold"/>
                <a:sym typeface="Poppins Bold"/>
              </a:rPr>
              <a:t>ORIGINAL ERD</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1D4A"/>
        </a:solidFill>
      </p:bgPr>
    </p:bg>
    <p:spTree>
      <p:nvGrpSpPr>
        <p:cNvPr id="1" name=""/>
        <p:cNvGrpSpPr/>
        <p:nvPr/>
      </p:nvGrpSpPr>
      <p:grpSpPr>
        <a:xfrm>
          <a:off x="0" y="0"/>
          <a:ext cx="0" cy="0"/>
          <a:chOff x="0" y="0"/>
          <a:chExt cx="0" cy="0"/>
        </a:xfrm>
      </p:grpSpPr>
      <p:sp>
        <p:nvSpPr>
          <p:cNvPr name="TextBox 2" id="2"/>
          <p:cNvSpPr txBox="true"/>
          <p:nvPr/>
        </p:nvSpPr>
        <p:spPr>
          <a:xfrm rot="0">
            <a:off x="1410991" y="1143000"/>
            <a:ext cx="6940565" cy="1184283"/>
          </a:xfrm>
          <a:prstGeom prst="rect">
            <a:avLst/>
          </a:prstGeom>
        </p:spPr>
        <p:txBody>
          <a:bodyPr anchor="t" rtlCol="false" tIns="0" lIns="0" bIns="0" rIns="0">
            <a:spAutoFit/>
          </a:bodyPr>
          <a:lstStyle/>
          <a:p>
            <a:pPr algn="l">
              <a:lnSpc>
                <a:spcPts val="8197"/>
              </a:lnSpc>
            </a:pPr>
            <a:r>
              <a:rPr lang="en-US" sz="8539" spc="-350" b="true">
                <a:solidFill>
                  <a:srgbClr val="ECA400"/>
                </a:solidFill>
                <a:latin typeface="Poppins Bold"/>
                <a:ea typeface="Poppins Bold"/>
                <a:cs typeface="Poppins Bold"/>
                <a:sym typeface="Poppins Bold"/>
              </a:rPr>
              <a:t>THE PROBLEM</a:t>
            </a:r>
          </a:p>
        </p:txBody>
      </p:sp>
      <p:sp>
        <p:nvSpPr>
          <p:cNvPr name="TextBox 3" id="3"/>
          <p:cNvSpPr txBox="true"/>
          <p:nvPr/>
        </p:nvSpPr>
        <p:spPr>
          <a:xfrm rot="0">
            <a:off x="1276422" y="2491159"/>
            <a:ext cx="16406194" cy="7579771"/>
          </a:xfrm>
          <a:prstGeom prst="rect">
            <a:avLst/>
          </a:prstGeom>
        </p:spPr>
        <p:txBody>
          <a:bodyPr anchor="t" rtlCol="false" tIns="0" lIns="0" bIns="0" rIns="0">
            <a:spAutoFit/>
          </a:bodyPr>
          <a:lstStyle/>
          <a:p>
            <a:pPr algn="just">
              <a:lnSpc>
                <a:spcPts val="3547"/>
              </a:lnSpc>
            </a:pPr>
            <a:r>
              <a:rPr lang="en-US" sz="2534">
                <a:solidFill>
                  <a:srgbClr val="FFFFFF"/>
                </a:solidFill>
                <a:latin typeface="Poppins"/>
                <a:ea typeface="Poppins"/>
                <a:cs typeface="Poppins"/>
                <a:sym typeface="Poppins"/>
              </a:rPr>
              <a:t>1. The "Clutter" Flaw (1NF Violation)</a:t>
            </a:r>
          </a:p>
          <a:p>
            <a:pPr algn="just" marL="547147" indent="-273573" lvl="1">
              <a:lnSpc>
                <a:spcPts val="3547"/>
              </a:lnSpc>
              <a:buFont typeface="Arial"/>
              <a:buChar char="•"/>
            </a:pPr>
            <a:r>
              <a:rPr lang="en-US" sz="2534">
                <a:solidFill>
                  <a:srgbClr val="FFFFFF"/>
                </a:solidFill>
                <a:latin typeface="Poppins"/>
                <a:ea typeface="Poppins"/>
                <a:cs typeface="Poppins"/>
                <a:sym typeface="Poppins"/>
              </a:rPr>
              <a:t>Issue: Student addresses were stored as one long string (Street, City, and Zip combined).</a:t>
            </a:r>
          </a:p>
          <a:p>
            <a:pPr algn="just" marL="547147" indent="-273573" lvl="1">
              <a:lnSpc>
                <a:spcPts val="3547"/>
              </a:lnSpc>
              <a:buFont typeface="Arial"/>
              <a:buChar char="•"/>
            </a:pPr>
            <a:r>
              <a:rPr lang="en-US" sz="2534">
                <a:solidFill>
                  <a:srgbClr val="FFFFFF"/>
                </a:solidFill>
                <a:latin typeface="Poppins"/>
                <a:ea typeface="Poppins"/>
                <a:cs typeface="Poppins"/>
                <a:sym typeface="Poppins"/>
              </a:rPr>
              <a:t>Impact: You cannot search or filter students by city or street because the data is "cluttered" together.</a:t>
            </a:r>
          </a:p>
          <a:p>
            <a:pPr algn="just">
              <a:lnSpc>
                <a:spcPts val="3547"/>
              </a:lnSpc>
            </a:pPr>
            <a:r>
              <a:rPr lang="en-US" sz="2534">
                <a:solidFill>
                  <a:srgbClr val="FFFFFF"/>
                </a:solidFill>
                <a:latin typeface="Poppins"/>
                <a:ea typeface="Poppins"/>
                <a:cs typeface="Poppins"/>
                <a:sym typeface="Poppins"/>
              </a:rPr>
              <a:t>2. The "Double Entry" Flaw (Redundancy)</a:t>
            </a:r>
          </a:p>
          <a:p>
            <a:pPr algn="just" marL="547147" indent="-273573" lvl="1">
              <a:lnSpc>
                <a:spcPts val="3547"/>
              </a:lnSpc>
              <a:buFont typeface="Arial"/>
              <a:buChar char="•"/>
            </a:pPr>
            <a:r>
              <a:rPr lang="en-US" sz="2534">
                <a:solidFill>
                  <a:srgbClr val="FFFFFF"/>
                </a:solidFill>
                <a:latin typeface="Poppins"/>
                <a:ea typeface="Poppins"/>
                <a:cs typeface="Poppins"/>
                <a:sym typeface="Poppins"/>
              </a:rPr>
              <a:t>Issue: Student and Course IDs were repeated in Enrollments, Grades, and Attendance.</a:t>
            </a:r>
          </a:p>
          <a:p>
            <a:pPr algn="just" marL="547147" indent="-273573" lvl="1">
              <a:lnSpc>
                <a:spcPts val="3547"/>
              </a:lnSpc>
              <a:buFont typeface="Arial"/>
              <a:buChar char="•"/>
            </a:pPr>
            <a:r>
              <a:rPr lang="en-US" sz="2534">
                <a:solidFill>
                  <a:srgbClr val="FFFFFF"/>
                </a:solidFill>
                <a:latin typeface="Poppins"/>
                <a:ea typeface="Poppins"/>
                <a:cs typeface="Poppins"/>
                <a:sym typeface="Poppins"/>
              </a:rPr>
              <a:t>Impact: Storing the same link in three places makes the data harder to update and increases the risk of "ghost" grades for students who aren't even enrolled.</a:t>
            </a:r>
          </a:p>
          <a:p>
            <a:pPr algn="just">
              <a:lnSpc>
                <a:spcPts val="3547"/>
              </a:lnSpc>
            </a:pPr>
            <a:r>
              <a:rPr lang="en-US" sz="2534">
                <a:solidFill>
                  <a:srgbClr val="FFFFFF"/>
                </a:solidFill>
                <a:latin typeface="Poppins"/>
                <a:ea typeface="Poppins"/>
                <a:cs typeface="Poppins"/>
                <a:sym typeface="Poppins"/>
              </a:rPr>
              <a:t>3. The "Rounding" Flaw (Data Integrity)</a:t>
            </a:r>
          </a:p>
          <a:p>
            <a:pPr algn="just" marL="547147" indent="-273573" lvl="1">
              <a:lnSpc>
                <a:spcPts val="3547"/>
              </a:lnSpc>
              <a:buFont typeface="Arial"/>
              <a:buChar char="•"/>
            </a:pPr>
            <a:r>
              <a:rPr lang="en-US" sz="2534">
                <a:solidFill>
                  <a:srgbClr val="FFFFFF"/>
                </a:solidFill>
                <a:latin typeface="Poppins"/>
                <a:ea typeface="Poppins"/>
                <a:cs typeface="Poppins"/>
                <a:sym typeface="Poppins"/>
              </a:rPr>
              <a:t>Issue: Grades were set as whole numbers (INT), but actual grades use decimals (like 85.50).</a:t>
            </a:r>
          </a:p>
          <a:p>
            <a:pPr algn="just" marL="547147" indent="-273573" lvl="1">
              <a:lnSpc>
                <a:spcPts val="3547"/>
              </a:lnSpc>
              <a:buFont typeface="Arial"/>
              <a:buChar char="•"/>
            </a:pPr>
            <a:r>
              <a:rPr lang="en-US" sz="2534">
                <a:solidFill>
                  <a:srgbClr val="FFFFFF"/>
                </a:solidFill>
                <a:latin typeface="Poppins"/>
                <a:ea typeface="Poppins"/>
                <a:cs typeface="Poppins"/>
                <a:sym typeface="Poppins"/>
              </a:rPr>
              <a:t>Impact: The database would force-round grades, leading to inaccurate student records and unfair GPA calculations.</a:t>
            </a:r>
          </a:p>
          <a:p>
            <a:pPr algn="just">
              <a:lnSpc>
                <a:spcPts val="3547"/>
              </a:lnSpc>
            </a:pPr>
            <a:r>
              <a:rPr lang="en-US" sz="2534">
                <a:solidFill>
                  <a:srgbClr val="FFFFFF"/>
                </a:solidFill>
                <a:latin typeface="Poppins"/>
                <a:ea typeface="Poppins"/>
                <a:cs typeface="Poppins"/>
                <a:sym typeface="Poppins"/>
              </a:rPr>
              <a:t>4. The "Consistency" Flaw (Missing Guardrails)</a:t>
            </a:r>
          </a:p>
          <a:p>
            <a:pPr algn="just" marL="547147" indent="-273573" lvl="1">
              <a:lnSpc>
                <a:spcPts val="3547"/>
              </a:lnSpc>
              <a:buFont typeface="Arial"/>
              <a:buChar char="•"/>
            </a:pPr>
            <a:r>
              <a:rPr lang="en-US" sz="2534">
                <a:solidFill>
                  <a:srgbClr val="FFFFFF"/>
                </a:solidFill>
                <a:latin typeface="Poppins"/>
                <a:ea typeface="Poppins"/>
                <a:cs typeface="Poppins"/>
                <a:sym typeface="Poppins"/>
              </a:rPr>
              <a:t>Issue: Attendance and Name fields were "open text" with no restrictions or "NOT NULL" rules.</a:t>
            </a:r>
          </a:p>
          <a:p>
            <a:pPr algn="just" marL="547147" indent="-273573" lvl="1">
              <a:lnSpc>
                <a:spcPts val="3547"/>
              </a:lnSpc>
              <a:buFont typeface="Arial"/>
              <a:buChar char="•"/>
            </a:pPr>
            <a:r>
              <a:rPr lang="en-US" sz="2534">
                <a:solidFill>
                  <a:srgbClr val="FFFFFF"/>
                </a:solidFill>
                <a:latin typeface="Poppins"/>
                <a:ea typeface="Poppins"/>
                <a:cs typeface="Poppins"/>
                <a:sym typeface="Poppins"/>
              </a:rPr>
              <a:t>Impact: Users could leave names blank or type different words for the same status (like "P" vs. "Present"), making it impossible to generate accurate reports.</a:t>
            </a:r>
          </a:p>
          <a:p>
            <a:pPr algn="just">
              <a:lnSpc>
                <a:spcPts val="3547"/>
              </a:lnSpc>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5943" y="990445"/>
            <a:ext cx="7927401" cy="1184283"/>
          </a:xfrm>
          <a:prstGeom prst="rect">
            <a:avLst/>
          </a:prstGeom>
        </p:spPr>
        <p:txBody>
          <a:bodyPr anchor="t" rtlCol="false" tIns="0" lIns="0" bIns="0" rIns="0">
            <a:spAutoFit/>
          </a:bodyPr>
          <a:lstStyle/>
          <a:p>
            <a:pPr algn="l">
              <a:lnSpc>
                <a:spcPts val="8197"/>
              </a:lnSpc>
            </a:pPr>
            <a:r>
              <a:rPr lang="en-US" sz="8539" spc="-350" b="true">
                <a:solidFill>
                  <a:srgbClr val="ECA400"/>
                </a:solidFill>
                <a:latin typeface="Poppins Bold"/>
                <a:ea typeface="Poppins Bold"/>
                <a:cs typeface="Poppins Bold"/>
                <a:sym typeface="Poppins Bold"/>
              </a:rPr>
              <a:t>THE SOLUTIONS</a:t>
            </a:r>
          </a:p>
        </p:txBody>
      </p:sp>
      <p:sp>
        <p:nvSpPr>
          <p:cNvPr name="TextBox 3" id="3"/>
          <p:cNvSpPr txBox="true"/>
          <p:nvPr/>
        </p:nvSpPr>
        <p:spPr>
          <a:xfrm rot="0">
            <a:off x="1425943" y="2187384"/>
            <a:ext cx="15833357" cy="2596836"/>
          </a:xfrm>
          <a:prstGeom prst="rect">
            <a:avLst/>
          </a:prstGeom>
        </p:spPr>
        <p:txBody>
          <a:bodyPr anchor="t" rtlCol="false" tIns="0" lIns="0" bIns="0" rIns="0">
            <a:spAutoFit/>
          </a:bodyPr>
          <a:lstStyle/>
          <a:p>
            <a:pPr algn="just">
              <a:lnSpc>
                <a:spcPts val="4099"/>
              </a:lnSpc>
            </a:pPr>
            <a:r>
              <a:rPr lang="en-US" sz="2928">
                <a:solidFill>
                  <a:srgbClr val="000000"/>
                </a:solidFill>
                <a:latin typeface="Poppins"/>
                <a:ea typeface="Poppins"/>
                <a:cs typeface="Poppins"/>
                <a:sym typeface="Poppins"/>
              </a:rPr>
              <a:t>Step 1: Making Data Atomic (1NF)</a:t>
            </a:r>
          </a:p>
          <a:p>
            <a:pPr algn="just" marL="632170" indent="-316085" lvl="1">
              <a:lnSpc>
                <a:spcPts val="4099"/>
              </a:lnSpc>
              <a:buFont typeface="Arial"/>
              <a:buChar char="•"/>
            </a:pPr>
            <a:r>
              <a:rPr lang="en-US" sz="2928">
                <a:solidFill>
                  <a:srgbClr val="000000"/>
                </a:solidFill>
                <a:latin typeface="Poppins"/>
                <a:ea typeface="Poppins"/>
                <a:cs typeface="Poppins"/>
                <a:sym typeface="Poppins"/>
              </a:rPr>
              <a:t>The Fix: We broke down "cluttered" information into individual parts.</a:t>
            </a:r>
          </a:p>
          <a:p>
            <a:pPr algn="just" marL="632170" indent="-316085" lvl="1">
              <a:lnSpc>
                <a:spcPts val="4099"/>
              </a:lnSpc>
              <a:buFont typeface="Arial"/>
              <a:buChar char="•"/>
            </a:pPr>
            <a:r>
              <a:rPr lang="en-US" sz="2928">
                <a:solidFill>
                  <a:srgbClr val="000000"/>
                </a:solidFill>
                <a:latin typeface="Poppins"/>
                <a:ea typeface="Poppins"/>
                <a:cs typeface="Poppins"/>
                <a:sym typeface="Poppins"/>
              </a:rPr>
              <a:t>Example: Instead of one big address block, we separated it into Street, City, and Zip Code so the system can finally filter students by location.</a:t>
            </a:r>
          </a:p>
          <a:p>
            <a:pPr algn="just">
              <a:lnSpc>
                <a:spcPts val="4099"/>
              </a:lnSpc>
            </a:pPr>
          </a:p>
        </p:txBody>
      </p:sp>
      <p:sp>
        <p:nvSpPr>
          <p:cNvPr name="TextBox 4" id="4"/>
          <p:cNvSpPr txBox="true"/>
          <p:nvPr/>
        </p:nvSpPr>
        <p:spPr>
          <a:xfrm rot="0">
            <a:off x="1425943" y="4421584"/>
            <a:ext cx="15833357" cy="3115838"/>
          </a:xfrm>
          <a:prstGeom prst="rect">
            <a:avLst/>
          </a:prstGeom>
        </p:spPr>
        <p:txBody>
          <a:bodyPr anchor="t" rtlCol="false" tIns="0" lIns="0" bIns="0" rIns="0">
            <a:spAutoFit/>
          </a:bodyPr>
          <a:lstStyle/>
          <a:p>
            <a:pPr algn="just">
              <a:lnSpc>
                <a:spcPts val="4099"/>
              </a:lnSpc>
            </a:pPr>
            <a:r>
              <a:rPr lang="en-US" sz="2928">
                <a:solidFill>
                  <a:srgbClr val="000000"/>
                </a:solidFill>
                <a:latin typeface="Poppins"/>
                <a:ea typeface="Poppins"/>
                <a:cs typeface="Poppins"/>
                <a:sym typeface="Poppins"/>
              </a:rPr>
              <a:t>Step 2: Fixing the "Double Entry" (2NF)</a:t>
            </a:r>
          </a:p>
          <a:p>
            <a:pPr algn="just" marL="632170" indent="-316085" lvl="1">
              <a:lnSpc>
                <a:spcPts val="4099"/>
              </a:lnSpc>
              <a:buFont typeface="Arial"/>
              <a:buChar char="•"/>
            </a:pPr>
            <a:r>
              <a:rPr lang="en-US" sz="2928">
                <a:solidFill>
                  <a:srgbClr val="000000"/>
                </a:solidFill>
                <a:latin typeface="Poppins"/>
                <a:ea typeface="Poppins"/>
                <a:cs typeface="Poppins"/>
                <a:sym typeface="Poppins"/>
              </a:rPr>
              <a:t>The Fix: We removed "Partial Dependencies."</a:t>
            </a:r>
          </a:p>
          <a:p>
            <a:pPr algn="just" marL="632170" indent="-316085" lvl="1">
              <a:lnSpc>
                <a:spcPts val="4099"/>
              </a:lnSpc>
              <a:buFont typeface="Arial"/>
              <a:buChar char="•"/>
            </a:pPr>
            <a:r>
              <a:rPr lang="en-US" sz="2928">
                <a:solidFill>
                  <a:srgbClr val="000000"/>
                </a:solidFill>
                <a:latin typeface="Poppins"/>
                <a:ea typeface="Poppins"/>
                <a:cs typeface="Poppins"/>
                <a:sym typeface="Poppins"/>
              </a:rPr>
              <a:t>Example: In the old system, Grades and Attendance were linked to both Student and Course IDs separately. We optimized this by linking them only to a single Enrollment_ID, ensuring a grade cannot exist without a valid enrollment.</a:t>
            </a:r>
          </a:p>
          <a:p>
            <a:pPr algn="just">
              <a:lnSpc>
                <a:spcPts val="4099"/>
              </a:lnSpc>
            </a:pPr>
          </a:p>
        </p:txBody>
      </p:sp>
      <p:sp>
        <p:nvSpPr>
          <p:cNvPr name="TextBox 5" id="5"/>
          <p:cNvSpPr txBox="true"/>
          <p:nvPr/>
        </p:nvSpPr>
        <p:spPr>
          <a:xfrm rot="0">
            <a:off x="1227321" y="7171162"/>
            <a:ext cx="15833357" cy="3115838"/>
          </a:xfrm>
          <a:prstGeom prst="rect">
            <a:avLst/>
          </a:prstGeom>
        </p:spPr>
        <p:txBody>
          <a:bodyPr anchor="t" rtlCol="false" tIns="0" lIns="0" bIns="0" rIns="0">
            <a:spAutoFit/>
          </a:bodyPr>
          <a:lstStyle/>
          <a:p>
            <a:pPr algn="just">
              <a:lnSpc>
                <a:spcPts val="4099"/>
              </a:lnSpc>
            </a:pPr>
            <a:r>
              <a:rPr lang="en-US" sz="2928">
                <a:solidFill>
                  <a:srgbClr val="000000"/>
                </a:solidFill>
                <a:latin typeface="Poppins"/>
                <a:ea typeface="Poppins"/>
                <a:cs typeface="Poppins"/>
                <a:sym typeface="Poppins"/>
              </a:rPr>
              <a:t>Step 3: Removing Indirect Connections (3NF)</a:t>
            </a:r>
          </a:p>
          <a:p>
            <a:pPr algn="just" marL="632170" indent="-316085" lvl="1">
              <a:lnSpc>
                <a:spcPts val="4099"/>
              </a:lnSpc>
              <a:buFont typeface="Arial"/>
              <a:buChar char="•"/>
            </a:pPr>
            <a:r>
              <a:rPr lang="en-US" sz="2928">
                <a:solidFill>
                  <a:srgbClr val="000000"/>
                </a:solidFill>
                <a:latin typeface="Poppins"/>
                <a:ea typeface="Poppins"/>
                <a:cs typeface="Poppins"/>
                <a:sym typeface="Poppins"/>
              </a:rPr>
              <a:t>The Fix: We eliminated "Transitive Dependencies."</a:t>
            </a:r>
          </a:p>
          <a:p>
            <a:pPr algn="just" marL="632170" indent="-316085" lvl="1">
              <a:lnSpc>
                <a:spcPts val="4099"/>
              </a:lnSpc>
              <a:buFont typeface="Arial"/>
              <a:buChar char="•"/>
            </a:pPr>
            <a:r>
              <a:rPr lang="en-US" sz="2928">
                <a:solidFill>
                  <a:srgbClr val="000000"/>
                </a:solidFill>
                <a:latin typeface="Poppins"/>
                <a:ea typeface="Poppins"/>
                <a:cs typeface="Poppins"/>
                <a:sym typeface="Poppins"/>
              </a:rPr>
              <a:t>Example: We noticed the Courses table was also trying to manage Department names. We created a dedicated Departments table so that changing a department name happens in one place, not in every single course record.</a:t>
            </a:r>
          </a:p>
          <a:p>
            <a:pPr algn="just">
              <a:lnSpc>
                <a:spcPts val="40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48081" y="2193710"/>
            <a:ext cx="14859798" cy="7782819"/>
          </a:xfrm>
          <a:custGeom>
            <a:avLst/>
            <a:gdLst/>
            <a:ahLst/>
            <a:cxnLst/>
            <a:rect r="r" b="b" t="t" l="l"/>
            <a:pathLst>
              <a:path h="7782819" w="14859798">
                <a:moveTo>
                  <a:pt x="0" y="0"/>
                </a:moveTo>
                <a:lnTo>
                  <a:pt x="14859798" y="0"/>
                </a:lnTo>
                <a:lnTo>
                  <a:pt x="14859798" y="7782819"/>
                </a:lnTo>
                <a:lnTo>
                  <a:pt x="0" y="7782819"/>
                </a:lnTo>
                <a:lnTo>
                  <a:pt x="0" y="0"/>
                </a:lnTo>
                <a:close/>
              </a:path>
            </a:pathLst>
          </a:custGeom>
          <a:blipFill>
            <a:blip r:embed="rId2"/>
            <a:stretch>
              <a:fillRect l="0" t="0" r="0" b="0"/>
            </a:stretch>
          </a:blipFill>
        </p:spPr>
      </p:sp>
      <p:sp>
        <p:nvSpPr>
          <p:cNvPr name="TextBox 3" id="3"/>
          <p:cNvSpPr txBox="true"/>
          <p:nvPr/>
        </p:nvSpPr>
        <p:spPr>
          <a:xfrm rot="0">
            <a:off x="4178512" y="1143000"/>
            <a:ext cx="9930976" cy="1184283"/>
          </a:xfrm>
          <a:prstGeom prst="rect">
            <a:avLst/>
          </a:prstGeom>
        </p:spPr>
        <p:txBody>
          <a:bodyPr anchor="t" rtlCol="false" tIns="0" lIns="0" bIns="0" rIns="0">
            <a:spAutoFit/>
          </a:bodyPr>
          <a:lstStyle/>
          <a:p>
            <a:pPr algn="l">
              <a:lnSpc>
                <a:spcPts val="8197"/>
              </a:lnSpc>
            </a:pPr>
            <a:r>
              <a:rPr lang="en-US" sz="8539" spc="-350" b="true">
                <a:solidFill>
                  <a:srgbClr val="ECA400"/>
                </a:solidFill>
                <a:latin typeface="Poppins Bold"/>
                <a:ea typeface="Poppins Bold"/>
                <a:cs typeface="Poppins Bold"/>
                <a:sym typeface="Poppins Bold"/>
              </a:rPr>
              <a:t>NORMALIZED ERD</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01D4A"/>
        </a:solidFill>
      </p:bgPr>
    </p:bg>
    <p:spTree>
      <p:nvGrpSpPr>
        <p:cNvPr id="1" name=""/>
        <p:cNvGrpSpPr/>
        <p:nvPr/>
      </p:nvGrpSpPr>
      <p:grpSpPr>
        <a:xfrm>
          <a:off x="0" y="0"/>
          <a:ext cx="0" cy="0"/>
          <a:chOff x="0" y="0"/>
          <a:chExt cx="0" cy="0"/>
        </a:xfrm>
      </p:grpSpPr>
      <p:sp>
        <p:nvSpPr>
          <p:cNvPr name="TextBox 2" id="2"/>
          <p:cNvSpPr txBox="true"/>
          <p:nvPr/>
        </p:nvSpPr>
        <p:spPr>
          <a:xfrm rot="0">
            <a:off x="1410991" y="1143000"/>
            <a:ext cx="17302340" cy="2222583"/>
          </a:xfrm>
          <a:prstGeom prst="rect">
            <a:avLst/>
          </a:prstGeom>
        </p:spPr>
        <p:txBody>
          <a:bodyPr anchor="t" rtlCol="false" tIns="0" lIns="0" bIns="0" rIns="0">
            <a:spAutoFit/>
          </a:bodyPr>
          <a:lstStyle/>
          <a:p>
            <a:pPr algn="l">
              <a:lnSpc>
                <a:spcPts val="8197"/>
              </a:lnSpc>
            </a:pPr>
            <a:r>
              <a:rPr lang="en-US" sz="8539" spc="-350" b="true">
                <a:solidFill>
                  <a:srgbClr val="ECA400"/>
                </a:solidFill>
                <a:latin typeface="Poppins Bold"/>
                <a:ea typeface="Poppins Bold"/>
                <a:cs typeface="Poppins Bold"/>
                <a:sym typeface="Poppins Bold"/>
              </a:rPr>
              <a:t>Building the Database (Implementation)</a:t>
            </a:r>
          </a:p>
        </p:txBody>
      </p:sp>
      <p:sp>
        <p:nvSpPr>
          <p:cNvPr name="TextBox 3" id="3"/>
          <p:cNvSpPr txBox="true"/>
          <p:nvPr/>
        </p:nvSpPr>
        <p:spPr>
          <a:xfrm rot="0">
            <a:off x="1272442" y="3694079"/>
            <a:ext cx="15743116" cy="5885220"/>
          </a:xfrm>
          <a:prstGeom prst="rect">
            <a:avLst/>
          </a:prstGeom>
        </p:spPr>
        <p:txBody>
          <a:bodyPr anchor="t" rtlCol="false" tIns="0" lIns="0" bIns="0" rIns="0">
            <a:spAutoFit/>
          </a:bodyPr>
          <a:lstStyle/>
          <a:p>
            <a:pPr algn="just" marL="800962" indent="-400481" lvl="1">
              <a:lnSpc>
                <a:spcPts val="5193"/>
              </a:lnSpc>
              <a:buFont typeface="Arial"/>
              <a:buChar char="•"/>
            </a:pPr>
            <a:r>
              <a:rPr lang="en-US" sz="3709">
                <a:solidFill>
                  <a:srgbClr val="FFFFFF"/>
                </a:solidFill>
                <a:latin typeface="Poppins"/>
                <a:ea typeface="Poppins"/>
                <a:cs typeface="Poppins"/>
                <a:sym typeface="Poppins"/>
              </a:rPr>
              <a:t>The Build (sis_create.sql): We used MariaDB to create tables with strict "NOT NULL" rules and Primary Keys to prevent junk data.</a:t>
            </a:r>
          </a:p>
          <a:p>
            <a:pPr algn="just" marL="800962" indent="-400481" lvl="1">
              <a:lnSpc>
                <a:spcPts val="5193"/>
              </a:lnSpc>
              <a:buFont typeface="Arial"/>
              <a:buChar char="•"/>
            </a:pPr>
            <a:r>
              <a:rPr lang="en-US" sz="3709">
                <a:solidFill>
                  <a:srgbClr val="FFFFFF"/>
                </a:solidFill>
                <a:latin typeface="Poppins"/>
                <a:ea typeface="Poppins"/>
                <a:cs typeface="Poppins"/>
                <a:sym typeface="Poppins"/>
              </a:rPr>
              <a:t>The Data (sis_queries.sql): We populated the system with 13 real-world sample records, including diverse names and addresses.</a:t>
            </a:r>
          </a:p>
          <a:p>
            <a:pPr algn="just" marL="800962" indent="-400481" lvl="1">
              <a:lnSpc>
                <a:spcPts val="5193"/>
              </a:lnSpc>
              <a:buFont typeface="Arial"/>
              <a:buChar char="•"/>
            </a:pPr>
            <a:r>
              <a:rPr lang="en-US" sz="3709">
                <a:solidFill>
                  <a:srgbClr val="FFFFFF"/>
                </a:solidFill>
                <a:latin typeface="Poppins"/>
                <a:ea typeface="Poppins"/>
                <a:cs typeface="Poppins"/>
                <a:sym typeface="Poppins"/>
              </a:rPr>
              <a:t>R</a:t>
            </a:r>
            <a:r>
              <a:rPr lang="en-US" sz="3709">
                <a:solidFill>
                  <a:srgbClr val="FFFFFF"/>
                </a:solidFill>
                <a:latin typeface="Poppins"/>
                <a:ea typeface="Poppins"/>
                <a:cs typeface="Poppins"/>
                <a:sym typeface="Poppins"/>
              </a:rPr>
              <a:t>esult: A clean, relational storage system where every student and course record is unique.</a:t>
            </a:r>
          </a:p>
          <a:p>
            <a:pPr algn="just">
              <a:lnSpc>
                <a:spcPts val="5193"/>
              </a:lnSpc>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57721" y="1309443"/>
            <a:ext cx="14312359" cy="1000969"/>
          </a:xfrm>
          <a:prstGeom prst="rect">
            <a:avLst/>
          </a:prstGeom>
        </p:spPr>
        <p:txBody>
          <a:bodyPr anchor="t" rtlCol="false" tIns="0" lIns="0" bIns="0" rIns="0">
            <a:spAutoFit/>
          </a:bodyPr>
          <a:lstStyle/>
          <a:p>
            <a:pPr algn="l">
              <a:lnSpc>
                <a:spcPts val="6980"/>
              </a:lnSpc>
            </a:pPr>
            <a:r>
              <a:rPr lang="en-US" sz="7271" spc="-298" b="true">
                <a:solidFill>
                  <a:srgbClr val="ECA400"/>
                </a:solidFill>
                <a:latin typeface="Poppins Bold"/>
                <a:ea typeface="Poppins Bold"/>
                <a:cs typeface="Poppins Bold"/>
                <a:sym typeface="Poppins Bold"/>
              </a:rPr>
              <a:t>Data Definition Language (DDL)</a:t>
            </a:r>
          </a:p>
        </p:txBody>
      </p:sp>
      <p:sp>
        <p:nvSpPr>
          <p:cNvPr name="TextBox 3" id="3"/>
          <p:cNvSpPr txBox="true"/>
          <p:nvPr/>
        </p:nvSpPr>
        <p:spPr>
          <a:xfrm rot="0">
            <a:off x="1157721" y="2402827"/>
            <a:ext cx="12823502" cy="7621061"/>
          </a:xfrm>
          <a:prstGeom prst="rect">
            <a:avLst/>
          </a:prstGeom>
        </p:spPr>
        <p:txBody>
          <a:bodyPr anchor="t" rtlCol="false" tIns="0" lIns="0" bIns="0" rIns="0">
            <a:spAutoFit/>
          </a:bodyPr>
          <a:lstStyle/>
          <a:p>
            <a:pPr algn="just">
              <a:lnSpc>
                <a:spcPts val="2864"/>
              </a:lnSpc>
            </a:pPr>
            <a:r>
              <a:rPr lang="en-US" sz="2046">
                <a:solidFill>
                  <a:srgbClr val="000000"/>
                </a:solidFill>
                <a:latin typeface="Poppins"/>
                <a:ea typeface="Poppins"/>
                <a:cs typeface="Poppins"/>
                <a:sym typeface="Poppins"/>
              </a:rPr>
              <a:t>-- 1. Departments Table (Eliminates Transitive Dependency)</a:t>
            </a:r>
          </a:p>
          <a:p>
            <a:pPr algn="just">
              <a:lnSpc>
                <a:spcPts val="2864"/>
              </a:lnSpc>
            </a:pPr>
            <a:r>
              <a:rPr lang="en-US" sz="2046">
                <a:solidFill>
                  <a:srgbClr val="000000"/>
                </a:solidFill>
                <a:latin typeface="Poppins"/>
                <a:ea typeface="Poppins"/>
                <a:cs typeface="Poppins"/>
                <a:sym typeface="Poppins"/>
              </a:rPr>
              <a:t>CREATE TABLE Departments (</a:t>
            </a:r>
          </a:p>
          <a:p>
            <a:pPr algn="just">
              <a:lnSpc>
                <a:spcPts val="2864"/>
              </a:lnSpc>
            </a:pPr>
            <a:r>
              <a:rPr lang="en-US" sz="2046">
                <a:solidFill>
                  <a:srgbClr val="000000"/>
                </a:solidFill>
                <a:latin typeface="Poppins"/>
                <a:ea typeface="Poppins"/>
                <a:cs typeface="Poppins"/>
                <a:sym typeface="Poppins"/>
              </a:rPr>
              <a:t>    Dept_ID INT,</a:t>
            </a:r>
          </a:p>
          <a:p>
            <a:pPr algn="just">
              <a:lnSpc>
                <a:spcPts val="2864"/>
              </a:lnSpc>
            </a:pPr>
            <a:r>
              <a:rPr lang="en-US" sz="2046">
                <a:solidFill>
                  <a:srgbClr val="000000"/>
                </a:solidFill>
                <a:latin typeface="Poppins"/>
                <a:ea typeface="Poppins"/>
                <a:cs typeface="Poppins"/>
                <a:sym typeface="Poppins"/>
              </a:rPr>
              <a:t>    Dept_Name VARCHAR(50) NOT NULL UNIQUE,</a:t>
            </a:r>
          </a:p>
          <a:p>
            <a:pPr algn="just">
              <a:lnSpc>
                <a:spcPts val="2864"/>
              </a:lnSpc>
            </a:pPr>
            <a:r>
              <a:rPr lang="en-US" sz="2046">
                <a:solidFill>
                  <a:srgbClr val="000000"/>
                </a:solidFill>
                <a:latin typeface="Poppins"/>
                <a:ea typeface="Poppins"/>
                <a:cs typeface="Poppins"/>
                <a:sym typeface="Poppins"/>
              </a:rPr>
              <a:t>    CONSTRAINT pk_Departments PRIMARY KEY(Dept_ID)</a:t>
            </a:r>
          </a:p>
          <a:p>
            <a:pPr algn="just">
              <a:lnSpc>
                <a:spcPts val="2864"/>
              </a:lnSpc>
            </a:pPr>
            <a:r>
              <a:rPr lang="en-US" sz="2046">
                <a:solidFill>
                  <a:srgbClr val="000000"/>
                </a:solidFill>
                <a:latin typeface="Poppins"/>
                <a:ea typeface="Poppins"/>
                <a:cs typeface="Poppins"/>
                <a:sym typeface="Poppins"/>
              </a:rPr>
              <a:t>);</a:t>
            </a:r>
          </a:p>
          <a:p>
            <a:pPr algn="just">
              <a:lnSpc>
                <a:spcPts val="2864"/>
              </a:lnSpc>
            </a:pPr>
          </a:p>
          <a:p>
            <a:pPr algn="just">
              <a:lnSpc>
                <a:spcPts val="2864"/>
              </a:lnSpc>
            </a:pPr>
            <a:r>
              <a:rPr lang="en-US" sz="2046">
                <a:solidFill>
                  <a:srgbClr val="000000"/>
                </a:solidFill>
                <a:latin typeface="Poppins"/>
                <a:ea typeface="Poppins"/>
                <a:cs typeface="Poppins"/>
                <a:sym typeface="Poppins"/>
              </a:rPr>
              <a:t>-- 2. Students Table (Ensures Atomic Attributes for Names/Addresses)</a:t>
            </a:r>
          </a:p>
          <a:p>
            <a:pPr algn="just">
              <a:lnSpc>
                <a:spcPts val="2864"/>
              </a:lnSpc>
            </a:pPr>
            <a:r>
              <a:rPr lang="en-US" sz="2046">
                <a:solidFill>
                  <a:srgbClr val="000000"/>
                </a:solidFill>
                <a:latin typeface="Poppins"/>
                <a:ea typeface="Poppins"/>
                <a:cs typeface="Poppins"/>
                <a:sym typeface="Poppins"/>
              </a:rPr>
              <a:t>CREATE TABLE Students (</a:t>
            </a:r>
          </a:p>
          <a:p>
            <a:pPr algn="just">
              <a:lnSpc>
                <a:spcPts val="2864"/>
              </a:lnSpc>
            </a:pPr>
            <a:r>
              <a:rPr lang="en-US" sz="2046">
                <a:solidFill>
                  <a:srgbClr val="000000"/>
                </a:solidFill>
                <a:latin typeface="Poppins"/>
                <a:ea typeface="Poppins"/>
                <a:cs typeface="Poppins"/>
                <a:sym typeface="Poppins"/>
              </a:rPr>
              <a:t>    Student_ID INT,</a:t>
            </a:r>
          </a:p>
          <a:p>
            <a:pPr algn="just">
              <a:lnSpc>
                <a:spcPts val="2864"/>
              </a:lnSpc>
            </a:pPr>
            <a:r>
              <a:rPr lang="en-US" sz="2046">
                <a:solidFill>
                  <a:srgbClr val="000000"/>
                </a:solidFill>
                <a:latin typeface="Poppins"/>
                <a:ea typeface="Poppins"/>
                <a:cs typeface="Poppins"/>
                <a:sym typeface="Poppins"/>
              </a:rPr>
              <a:t>    First_Name VARCHAR(50) NOT NULL,</a:t>
            </a:r>
          </a:p>
          <a:p>
            <a:pPr algn="just">
              <a:lnSpc>
                <a:spcPts val="2864"/>
              </a:lnSpc>
            </a:pPr>
            <a:r>
              <a:rPr lang="en-US" sz="2046">
                <a:solidFill>
                  <a:srgbClr val="000000"/>
                </a:solidFill>
                <a:latin typeface="Poppins"/>
                <a:ea typeface="Poppins"/>
                <a:cs typeface="Poppins"/>
                <a:sym typeface="Poppins"/>
              </a:rPr>
              <a:t>    Last_Name VARCHAR(50) NOT NULL,</a:t>
            </a:r>
          </a:p>
          <a:p>
            <a:pPr algn="just">
              <a:lnSpc>
                <a:spcPts val="2864"/>
              </a:lnSpc>
            </a:pPr>
            <a:r>
              <a:rPr lang="en-US" sz="2046">
                <a:solidFill>
                  <a:srgbClr val="000000"/>
                </a:solidFill>
                <a:latin typeface="Poppins"/>
                <a:ea typeface="Poppins"/>
                <a:cs typeface="Poppins"/>
                <a:sym typeface="Poppins"/>
              </a:rPr>
              <a:t>    Email VARCHAR(100) NOT NULL UNIQUE,</a:t>
            </a:r>
          </a:p>
          <a:p>
            <a:pPr algn="just">
              <a:lnSpc>
                <a:spcPts val="2864"/>
              </a:lnSpc>
            </a:pPr>
            <a:r>
              <a:rPr lang="en-US" sz="2046">
                <a:solidFill>
                  <a:srgbClr val="000000"/>
                </a:solidFill>
                <a:latin typeface="Poppins"/>
                <a:ea typeface="Poppins"/>
                <a:cs typeface="Poppins"/>
                <a:sym typeface="Poppins"/>
              </a:rPr>
              <a:t>    Phone VARCHAR(20),</a:t>
            </a:r>
          </a:p>
          <a:p>
            <a:pPr algn="just">
              <a:lnSpc>
                <a:spcPts val="2864"/>
              </a:lnSpc>
            </a:pPr>
            <a:r>
              <a:rPr lang="en-US" sz="2046">
                <a:solidFill>
                  <a:srgbClr val="000000"/>
                </a:solidFill>
                <a:latin typeface="Poppins"/>
                <a:ea typeface="Poppins"/>
                <a:cs typeface="Poppins"/>
                <a:sym typeface="Poppins"/>
              </a:rPr>
              <a:t>    Street VARCHAR(100),</a:t>
            </a:r>
          </a:p>
          <a:p>
            <a:pPr algn="just">
              <a:lnSpc>
                <a:spcPts val="2864"/>
              </a:lnSpc>
            </a:pPr>
            <a:r>
              <a:rPr lang="en-US" sz="2046">
                <a:solidFill>
                  <a:srgbClr val="000000"/>
                </a:solidFill>
                <a:latin typeface="Poppins"/>
                <a:ea typeface="Poppins"/>
                <a:cs typeface="Poppins"/>
                <a:sym typeface="Poppins"/>
              </a:rPr>
              <a:t>    City VARCHAR(50),</a:t>
            </a:r>
          </a:p>
          <a:p>
            <a:pPr algn="just">
              <a:lnSpc>
                <a:spcPts val="2864"/>
              </a:lnSpc>
            </a:pPr>
            <a:r>
              <a:rPr lang="en-US" sz="2046">
                <a:solidFill>
                  <a:srgbClr val="000000"/>
                </a:solidFill>
                <a:latin typeface="Poppins"/>
                <a:ea typeface="Poppins"/>
                <a:cs typeface="Poppins"/>
                <a:sym typeface="Poppins"/>
              </a:rPr>
              <a:t>    Zip_Code VARCHAR(10),</a:t>
            </a:r>
          </a:p>
          <a:p>
            <a:pPr algn="just">
              <a:lnSpc>
                <a:spcPts val="2864"/>
              </a:lnSpc>
            </a:pPr>
            <a:r>
              <a:rPr lang="en-US" sz="2046">
                <a:solidFill>
                  <a:srgbClr val="000000"/>
                </a:solidFill>
                <a:latin typeface="Poppins"/>
                <a:ea typeface="Poppins"/>
                <a:cs typeface="Poppins"/>
                <a:sym typeface="Poppins"/>
              </a:rPr>
              <a:t>    CONSTRAINT pk_Students PRIMARY KEY(Student_ID)</a:t>
            </a:r>
          </a:p>
          <a:p>
            <a:pPr algn="just">
              <a:lnSpc>
                <a:spcPts val="2864"/>
              </a:lnSpc>
            </a:pPr>
            <a:r>
              <a:rPr lang="en-US" sz="2046">
                <a:solidFill>
                  <a:srgbClr val="000000"/>
                </a:solidFill>
                <a:latin typeface="Poppins"/>
                <a:ea typeface="Poppins"/>
                <a:cs typeface="Poppins"/>
                <a:sym typeface="Poppins"/>
              </a:rPr>
              <a:t>);</a:t>
            </a:r>
          </a:p>
          <a:p>
            <a:pPr algn="just">
              <a:lnSpc>
                <a:spcPts val="2864"/>
              </a:lnSpc>
            </a:pPr>
          </a:p>
          <a:p>
            <a:pPr algn="just">
              <a:lnSpc>
                <a:spcPts val="2864"/>
              </a:lnSpc>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57721" y="1309443"/>
            <a:ext cx="14312359" cy="1000969"/>
          </a:xfrm>
          <a:prstGeom prst="rect">
            <a:avLst/>
          </a:prstGeom>
        </p:spPr>
        <p:txBody>
          <a:bodyPr anchor="t" rtlCol="false" tIns="0" lIns="0" bIns="0" rIns="0">
            <a:spAutoFit/>
          </a:bodyPr>
          <a:lstStyle/>
          <a:p>
            <a:pPr algn="l">
              <a:lnSpc>
                <a:spcPts val="6980"/>
              </a:lnSpc>
            </a:pPr>
            <a:r>
              <a:rPr lang="en-US" sz="7271" spc="-298" b="true">
                <a:solidFill>
                  <a:srgbClr val="ECA400"/>
                </a:solidFill>
                <a:latin typeface="Poppins Bold"/>
                <a:ea typeface="Poppins Bold"/>
                <a:cs typeface="Poppins Bold"/>
                <a:sym typeface="Poppins Bold"/>
              </a:rPr>
              <a:t>Data Definition Language (DDL)</a:t>
            </a:r>
          </a:p>
        </p:txBody>
      </p:sp>
      <p:sp>
        <p:nvSpPr>
          <p:cNvPr name="TextBox 3" id="3"/>
          <p:cNvSpPr txBox="true"/>
          <p:nvPr/>
        </p:nvSpPr>
        <p:spPr>
          <a:xfrm rot="0">
            <a:off x="1157721" y="2402827"/>
            <a:ext cx="14788483" cy="7258400"/>
          </a:xfrm>
          <a:prstGeom prst="rect">
            <a:avLst/>
          </a:prstGeom>
        </p:spPr>
        <p:txBody>
          <a:bodyPr anchor="t" rtlCol="false" tIns="0" lIns="0" bIns="0" rIns="0">
            <a:spAutoFit/>
          </a:bodyPr>
          <a:lstStyle/>
          <a:p>
            <a:pPr algn="just">
              <a:lnSpc>
                <a:spcPts val="2864"/>
              </a:lnSpc>
            </a:pPr>
            <a:r>
              <a:rPr lang="en-US" sz="2046">
                <a:solidFill>
                  <a:srgbClr val="000000"/>
                </a:solidFill>
                <a:latin typeface="Poppins"/>
                <a:ea typeface="Poppins"/>
                <a:cs typeface="Poppins"/>
                <a:sym typeface="Poppins"/>
              </a:rPr>
              <a:t>-- 3. Courses Table (Linked via Dept_ID)</a:t>
            </a:r>
          </a:p>
          <a:p>
            <a:pPr algn="just">
              <a:lnSpc>
                <a:spcPts val="2864"/>
              </a:lnSpc>
            </a:pPr>
            <a:r>
              <a:rPr lang="en-US" sz="2046">
                <a:solidFill>
                  <a:srgbClr val="000000"/>
                </a:solidFill>
                <a:latin typeface="Poppins"/>
                <a:ea typeface="Poppins"/>
                <a:cs typeface="Poppins"/>
                <a:sym typeface="Poppins"/>
              </a:rPr>
              <a:t>CREATE TABLE Courses (</a:t>
            </a:r>
          </a:p>
          <a:p>
            <a:pPr algn="just">
              <a:lnSpc>
                <a:spcPts val="2864"/>
              </a:lnSpc>
            </a:pPr>
            <a:r>
              <a:rPr lang="en-US" sz="2046">
                <a:solidFill>
                  <a:srgbClr val="000000"/>
                </a:solidFill>
                <a:latin typeface="Poppins"/>
                <a:ea typeface="Poppins"/>
                <a:cs typeface="Poppins"/>
                <a:sym typeface="Poppins"/>
              </a:rPr>
              <a:t>    Course_ID INT,</a:t>
            </a:r>
          </a:p>
          <a:p>
            <a:pPr algn="just">
              <a:lnSpc>
                <a:spcPts val="2864"/>
              </a:lnSpc>
            </a:pPr>
            <a:r>
              <a:rPr lang="en-US" sz="2046">
                <a:solidFill>
                  <a:srgbClr val="000000"/>
                </a:solidFill>
                <a:latin typeface="Poppins"/>
                <a:ea typeface="Poppins"/>
                <a:cs typeface="Poppins"/>
                <a:sym typeface="Poppins"/>
              </a:rPr>
              <a:t>    Course_Name VARCHAR(100) NOT NULL,</a:t>
            </a:r>
          </a:p>
          <a:p>
            <a:pPr algn="just">
              <a:lnSpc>
                <a:spcPts val="2864"/>
              </a:lnSpc>
            </a:pPr>
            <a:r>
              <a:rPr lang="en-US" sz="2046">
                <a:solidFill>
                  <a:srgbClr val="000000"/>
                </a:solidFill>
                <a:latin typeface="Poppins"/>
                <a:ea typeface="Poppins"/>
                <a:cs typeface="Poppins"/>
                <a:sym typeface="Poppins"/>
              </a:rPr>
              <a:t>    Credits INT NOT NULL,</a:t>
            </a:r>
          </a:p>
          <a:p>
            <a:pPr algn="just">
              <a:lnSpc>
                <a:spcPts val="2864"/>
              </a:lnSpc>
            </a:pPr>
            <a:r>
              <a:rPr lang="en-US" sz="2046">
                <a:solidFill>
                  <a:srgbClr val="000000"/>
                </a:solidFill>
                <a:latin typeface="Poppins"/>
                <a:ea typeface="Poppins"/>
                <a:cs typeface="Poppins"/>
                <a:sym typeface="Poppins"/>
              </a:rPr>
              <a:t>    Dept_ID INT,</a:t>
            </a:r>
          </a:p>
          <a:p>
            <a:pPr algn="just">
              <a:lnSpc>
                <a:spcPts val="2864"/>
              </a:lnSpc>
            </a:pPr>
            <a:r>
              <a:rPr lang="en-US" sz="2046">
                <a:solidFill>
                  <a:srgbClr val="000000"/>
                </a:solidFill>
                <a:latin typeface="Poppins"/>
                <a:ea typeface="Poppins"/>
                <a:cs typeface="Poppins"/>
                <a:sym typeface="Poppins"/>
              </a:rPr>
              <a:t>    CONSTRAINT pk_Courses PRIMARY KEY(Course_ID),</a:t>
            </a:r>
          </a:p>
          <a:p>
            <a:pPr algn="just">
              <a:lnSpc>
                <a:spcPts val="2864"/>
              </a:lnSpc>
            </a:pPr>
            <a:r>
              <a:rPr lang="en-US" sz="2046">
                <a:solidFill>
                  <a:srgbClr val="000000"/>
                </a:solidFill>
                <a:latin typeface="Poppins"/>
                <a:ea typeface="Poppins"/>
                <a:cs typeface="Poppins"/>
                <a:sym typeface="Poppins"/>
              </a:rPr>
              <a:t>    CONSTRAINT fk_Departments_Courses FOREIGN KEY(Dept_ID) REFERENCES Departments(Dept_ID)</a:t>
            </a:r>
          </a:p>
          <a:p>
            <a:pPr algn="just">
              <a:lnSpc>
                <a:spcPts val="2864"/>
              </a:lnSpc>
            </a:pPr>
            <a:r>
              <a:rPr lang="en-US" sz="2046">
                <a:solidFill>
                  <a:srgbClr val="000000"/>
                </a:solidFill>
                <a:latin typeface="Poppins"/>
                <a:ea typeface="Poppins"/>
                <a:cs typeface="Poppins"/>
                <a:sym typeface="Poppins"/>
              </a:rPr>
              <a:t>);</a:t>
            </a:r>
          </a:p>
          <a:p>
            <a:pPr algn="just">
              <a:lnSpc>
                <a:spcPts val="2864"/>
              </a:lnSpc>
            </a:pPr>
          </a:p>
          <a:p>
            <a:pPr algn="just">
              <a:lnSpc>
                <a:spcPts val="2864"/>
              </a:lnSpc>
            </a:pPr>
            <a:r>
              <a:rPr lang="en-US" sz="2046">
                <a:solidFill>
                  <a:srgbClr val="000000"/>
                </a:solidFill>
                <a:latin typeface="Poppins"/>
                <a:ea typeface="Poppins"/>
                <a:cs typeface="Poppins"/>
                <a:sym typeface="Poppins"/>
              </a:rPr>
              <a:t>-- 4. Enrollments Table (The Central Hub for M:M Relationships)</a:t>
            </a:r>
          </a:p>
          <a:p>
            <a:pPr algn="just">
              <a:lnSpc>
                <a:spcPts val="2864"/>
              </a:lnSpc>
            </a:pPr>
            <a:r>
              <a:rPr lang="en-US" sz="2046">
                <a:solidFill>
                  <a:srgbClr val="000000"/>
                </a:solidFill>
                <a:latin typeface="Poppins"/>
                <a:ea typeface="Poppins"/>
                <a:cs typeface="Poppins"/>
                <a:sym typeface="Poppins"/>
              </a:rPr>
              <a:t>CREATE TABLE Enrollments (</a:t>
            </a:r>
          </a:p>
          <a:p>
            <a:pPr algn="just">
              <a:lnSpc>
                <a:spcPts val="2864"/>
              </a:lnSpc>
            </a:pPr>
            <a:r>
              <a:rPr lang="en-US" sz="2046">
                <a:solidFill>
                  <a:srgbClr val="000000"/>
                </a:solidFill>
                <a:latin typeface="Poppins"/>
                <a:ea typeface="Poppins"/>
                <a:cs typeface="Poppins"/>
                <a:sym typeface="Poppins"/>
              </a:rPr>
              <a:t>    Enrollment_ID INT,</a:t>
            </a:r>
          </a:p>
          <a:p>
            <a:pPr algn="just">
              <a:lnSpc>
                <a:spcPts val="2864"/>
              </a:lnSpc>
            </a:pPr>
            <a:r>
              <a:rPr lang="en-US" sz="2046">
                <a:solidFill>
                  <a:srgbClr val="000000"/>
                </a:solidFill>
                <a:latin typeface="Poppins"/>
                <a:ea typeface="Poppins"/>
                <a:cs typeface="Poppins"/>
                <a:sym typeface="Poppins"/>
              </a:rPr>
              <a:t>    Student_ID INT NOT NULL,</a:t>
            </a:r>
          </a:p>
          <a:p>
            <a:pPr algn="just">
              <a:lnSpc>
                <a:spcPts val="2864"/>
              </a:lnSpc>
            </a:pPr>
            <a:r>
              <a:rPr lang="en-US" sz="2046">
                <a:solidFill>
                  <a:srgbClr val="000000"/>
                </a:solidFill>
                <a:latin typeface="Poppins"/>
                <a:ea typeface="Poppins"/>
                <a:cs typeface="Poppins"/>
                <a:sym typeface="Poppins"/>
              </a:rPr>
              <a:t>    Course_ID INT NOT NULL,</a:t>
            </a:r>
          </a:p>
          <a:p>
            <a:pPr algn="just">
              <a:lnSpc>
                <a:spcPts val="2864"/>
              </a:lnSpc>
            </a:pPr>
            <a:r>
              <a:rPr lang="en-US" sz="2046">
                <a:solidFill>
                  <a:srgbClr val="000000"/>
                </a:solidFill>
                <a:latin typeface="Poppins"/>
                <a:ea typeface="Poppins"/>
                <a:cs typeface="Poppins"/>
                <a:sym typeface="Poppins"/>
              </a:rPr>
              <a:t>    Enrollment_Date DATE,</a:t>
            </a:r>
          </a:p>
          <a:p>
            <a:pPr algn="just">
              <a:lnSpc>
                <a:spcPts val="2864"/>
              </a:lnSpc>
            </a:pPr>
            <a:r>
              <a:rPr lang="en-US" sz="2046">
                <a:solidFill>
                  <a:srgbClr val="000000"/>
                </a:solidFill>
                <a:latin typeface="Poppins"/>
                <a:ea typeface="Poppins"/>
                <a:cs typeface="Poppins"/>
                <a:sym typeface="Poppins"/>
              </a:rPr>
              <a:t>    CONSTRAINT pk_Enrollments PRIMARY KEY(Enrollment_ID),</a:t>
            </a:r>
          </a:p>
          <a:p>
            <a:pPr algn="just">
              <a:lnSpc>
                <a:spcPts val="2864"/>
              </a:lnSpc>
            </a:pPr>
            <a:r>
              <a:rPr lang="en-US" sz="2046">
                <a:solidFill>
                  <a:srgbClr val="000000"/>
                </a:solidFill>
                <a:latin typeface="Poppins"/>
                <a:ea typeface="Poppins"/>
                <a:cs typeface="Poppins"/>
                <a:sym typeface="Poppins"/>
              </a:rPr>
              <a:t>    CONSTRAINT fk_Students_Enrollments FOREIGN KEY(Student_ID) REFERENCES Students(Student_ID),</a:t>
            </a:r>
          </a:p>
          <a:p>
            <a:pPr algn="just">
              <a:lnSpc>
                <a:spcPts val="2864"/>
              </a:lnSpc>
            </a:pPr>
            <a:r>
              <a:rPr lang="en-US" sz="2046">
                <a:solidFill>
                  <a:srgbClr val="000000"/>
                </a:solidFill>
                <a:latin typeface="Poppins"/>
                <a:ea typeface="Poppins"/>
                <a:cs typeface="Poppins"/>
                <a:sym typeface="Poppins"/>
              </a:rPr>
              <a:t>    CONSTRAINT fk_Courses_Enrollments FOREIGN KEY(Course_ID) REFERENCES Courses(Course_ID)</a:t>
            </a:r>
          </a:p>
          <a:p>
            <a:pPr algn="just">
              <a:lnSpc>
                <a:spcPts val="2864"/>
              </a:lnSpc>
            </a:pPr>
            <a:r>
              <a:rPr lang="en-US" sz="2046">
                <a:solidFill>
                  <a:srgbClr val="000000"/>
                </a:solidFill>
                <a:latin typeface="Poppins"/>
                <a:ea typeface="Poppins"/>
                <a:cs typeface="Poppins"/>
                <a:sym typeface="Poppins"/>
              </a:rPr>
              <a:t>);</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57721" y="1309443"/>
            <a:ext cx="14312359" cy="1000969"/>
          </a:xfrm>
          <a:prstGeom prst="rect">
            <a:avLst/>
          </a:prstGeom>
        </p:spPr>
        <p:txBody>
          <a:bodyPr anchor="t" rtlCol="false" tIns="0" lIns="0" bIns="0" rIns="0">
            <a:spAutoFit/>
          </a:bodyPr>
          <a:lstStyle/>
          <a:p>
            <a:pPr algn="l">
              <a:lnSpc>
                <a:spcPts val="6980"/>
              </a:lnSpc>
            </a:pPr>
            <a:r>
              <a:rPr lang="en-US" sz="7271" spc="-298" b="true">
                <a:solidFill>
                  <a:srgbClr val="ECA400"/>
                </a:solidFill>
                <a:latin typeface="Poppins Bold"/>
                <a:ea typeface="Poppins Bold"/>
                <a:cs typeface="Poppins Bold"/>
                <a:sym typeface="Poppins Bold"/>
              </a:rPr>
              <a:t>Data Definition Language (DDL)</a:t>
            </a:r>
          </a:p>
        </p:txBody>
      </p:sp>
      <p:sp>
        <p:nvSpPr>
          <p:cNvPr name="TextBox 3" id="3"/>
          <p:cNvSpPr txBox="true"/>
          <p:nvPr/>
        </p:nvSpPr>
        <p:spPr>
          <a:xfrm rot="0">
            <a:off x="1157721" y="2402827"/>
            <a:ext cx="14788483" cy="6895739"/>
          </a:xfrm>
          <a:prstGeom prst="rect">
            <a:avLst/>
          </a:prstGeom>
        </p:spPr>
        <p:txBody>
          <a:bodyPr anchor="t" rtlCol="false" tIns="0" lIns="0" bIns="0" rIns="0">
            <a:spAutoFit/>
          </a:bodyPr>
          <a:lstStyle/>
          <a:p>
            <a:pPr algn="just">
              <a:lnSpc>
                <a:spcPts val="2864"/>
              </a:lnSpc>
            </a:pPr>
            <a:r>
              <a:rPr lang="en-US" sz="2046">
                <a:solidFill>
                  <a:srgbClr val="000000"/>
                </a:solidFill>
                <a:latin typeface="Poppins"/>
                <a:ea typeface="Poppins"/>
                <a:cs typeface="Poppins"/>
                <a:sym typeface="Poppins"/>
              </a:rPr>
              <a:t>-- 5. Grades Table (Redesigned to remove Partial Dependencies)</a:t>
            </a:r>
          </a:p>
          <a:p>
            <a:pPr algn="just">
              <a:lnSpc>
                <a:spcPts val="2864"/>
              </a:lnSpc>
            </a:pPr>
            <a:r>
              <a:rPr lang="en-US" sz="2046">
                <a:solidFill>
                  <a:srgbClr val="000000"/>
                </a:solidFill>
                <a:latin typeface="Poppins"/>
                <a:ea typeface="Poppins"/>
                <a:cs typeface="Poppins"/>
                <a:sym typeface="Poppins"/>
              </a:rPr>
              <a:t>CREATE TABLE Grades (</a:t>
            </a:r>
          </a:p>
          <a:p>
            <a:pPr algn="just">
              <a:lnSpc>
                <a:spcPts val="2864"/>
              </a:lnSpc>
            </a:pPr>
            <a:r>
              <a:rPr lang="en-US" sz="2046">
                <a:solidFill>
                  <a:srgbClr val="000000"/>
                </a:solidFill>
                <a:latin typeface="Poppins"/>
                <a:ea typeface="Poppins"/>
                <a:cs typeface="Poppins"/>
                <a:sym typeface="Poppins"/>
              </a:rPr>
              <a:t>    Grade_ID INT,</a:t>
            </a:r>
          </a:p>
          <a:p>
            <a:pPr algn="just">
              <a:lnSpc>
                <a:spcPts val="2864"/>
              </a:lnSpc>
            </a:pPr>
            <a:r>
              <a:rPr lang="en-US" sz="2046">
                <a:solidFill>
                  <a:srgbClr val="000000"/>
                </a:solidFill>
                <a:latin typeface="Poppins"/>
                <a:ea typeface="Poppins"/>
                <a:cs typeface="Poppins"/>
                <a:sym typeface="Poppins"/>
              </a:rPr>
              <a:t>    Enrollment_ID INT NOT NULL, </a:t>
            </a:r>
          </a:p>
          <a:p>
            <a:pPr algn="just">
              <a:lnSpc>
                <a:spcPts val="2864"/>
              </a:lnSpc>
            </a:pPr>
            <a:r>
              <a:rPr lang="en-US" sz="2046">
                <a:solidFill>
                  <a:srgbClr val="000000"/>
                </a:solidFill>
                <a:latin typeface="Poppins"/>
                <a:ea typeface="Poppins"/>
                <a:cs typeface="Poppins"/>
                <a:sym typeface="Poppins"/>
              </a:rPr>
              <a:t>    Assignment_Name VARCHAR(50),</a:t>
            </a:r>
          </a:p>
          <a:p>
            <a:pPr algn="just">
              <a:lnSpc>
                <a:spcPts val="2864"/>
              </a:lnSpc>
            </a:pPr>
            <a:r>
              <a:rPr lang="en-US" sz="2046">
                <a:solidFill>
                  <a:srgbClr val="000000"/>
                </a:solidFill>
                <a:latin typeface="Poppins"/>
                <a:ea typeface="Poppins"/>
                <a:cs typeface="Poppins"/>
                <a:sym typeface="Poppins"/>
              </a:rPr>
              <a:t>    Grade DECIMAL(5,2),</a:t>
            </a:r>
          </a:p>
          <a:p>
            <a:pPr algn="just">
              <a:lnSpc>
                <a:spcPts val="2864"/>
              </a:lnSpc>
            </a:pPr>
            <a:r>
              <a:rPr lang="en-US" sz="2046">
                <a:solidFill>
                  <a:srgbClr val="000000"/>
                </a:solidFill>
                <a:latin typeface="Poppins"/>
                <a:ea typeface="Poppins"/>
                <a:cs typeface="Poppins"/>
                <a:sym typeface="Poppins"/>
              </a:rPr>
              <a:t>    CONSTRAINT pk_Grades PRIMARY KEY(Grade_ID),</a:t>
            </a:r>
          </a:p>
          <a:p>
            <a:pPr algn="just">
              <a:lnSpc>
                <a:spcPts val="2864"/>
              </a:lnSpc>
            </a:pPr>
            <a:r>
              <a:rPr lang="en-US" sz="2046">
                <a:solidFill>
                  <a:srgbClr val="000000"/>
                </a:solidFill>
                <a:latin typeface="Poppins"/>
                <a:ea typeface="Poppins"/>
                <a:cs typeface="Poppins"/>
                <a:sym typeface="Poppins"/>
              </a:rPr>
              <a:t>    CONSTRAINT fk_Enrollments_Grades FOREIGN KEY(Enrollment_ID) REFERENCES Enrollments(Enrollment_ID)</a:t>
            </a:r>
          </a:p>
          <a:p>
            <a:pPr algn="just">
              <a:lnSpc>
                <a:spcPts val="2864"/>
              </a:lnSpc>
            </a:pPr>
            <a:r>
              <a:rPr lang="en-US" sz="2046">
                <a:solidFill>
                  <a:srgbClr val="000000"/>
                </a:solidFill>
                <a:latin typeface="Poppins"/>
                <a:ea typeface="Poppins"/>
                <a:cs typeface="Poppins"/>
                <a:sym typeface="Poppins"/>
              </a:rPr>
              <a:t>);</a:t>
            </a:r>
          </a:p>
          <a:p>
            <a:pPr algn="just">
              <a:lnSpc>
                <a:spcPts val="2864"/>
              </a:lnSpc>
            </a:pPr>
          </a:p>
          <a:p>
            <a:pPr algn="just">
              <a:lnSpc>
                <a:spcPts val="2864"/>
              </a:lnSpc>
            </a:pPr>
            <a:r>
              <a:rPr lang="en-US" sz="2046">
                <a:solidFill>
                  <a:srgbClr val="000000"/>
                </a:solidFill>
                <a:latin typeface="Poppins"/>
                <a:ea typeface="Poppins"/>
                <a:cs typeface="Poppins"/>
                <a:sym typeface="Poppins"/>
              </a:rPr>
              <a:t>-- 6. Attendance Table (Linked to Enrollment for consistency)</a:t>
            </a:r>
          </a:p>
          <a:p>
            <a:pPr algn="just">
              <a:lnSpc>
                <a:spcPts val="2864"/>
              </a:lnSpc>
            </a:pPr>
            <a:r>
              <a:rPr lang="en-US" sz="2046">
                <a:solidFill>
                  <a:srgbClr val="000000"/>
                </a:solidFill>
                <a:latin typeface="Poppins"/>
                <a:ea typeface="Poppins"/>
                <a:cs typeface="Poppins"/>
                <a:sym typeface="Poppins"/>
              </a:rPr>
              <a:t>CREATE TABLE Attendance (</a:t>
            </a:r>
          </a:p>
          <a:p>
            <a:pPr algn="just">
              <a:lnSpc>
                <a:spcPts val="2864"/>
              </a:lnSpc>
            </a:pPr>
            <a:r>
              <a:rPr lang="en-US" sz="2046">
                <a:solidFill>
                  <a:srgbClr val="000000"/>
                </a:solidFill>
                <a:latin typeface="Poppins"/>
                <a:ea typeface="Poppins"/>
                <a:cs typeface="Poppins"/>
                <a:sym typeface="Poppins"/>
              </a:rPr>
              <a:t>    Attendance_ID INT,</a:t>
            </a:r>
          </a:p>
          <a:p>
            <a:pPr algn="just">
              <a:lnSpc>
                <a:spcPts val="2864"/>
              </a:lnSpc>
            </a:pPr>
            <a:r>
              <a:rPr lang="en-US" sz="2046">
                <a:solidFill>
                  <a:srgbClr val="000000"/>
                </a:solidFill>
                <a:latin typeface="Poppins"/>
                <a:ea typeface="Poppins"/>
                <a:cs typeface="Poppins"/>
                <a:sym typeface="Poppins"/>
              </a:rPr>
              <a:t>    Enrollment_ID INT NOT NULL,</a:t>
            </a:r>
          </a:p>
          <a:p>
            <a:pPr algn="just">
              <a:lnSpc>
                <a:spcPts val="2864"/>
              </a:lnSpc>
            </a:pPr>
            <a:r>
              <a:rPr lang="en-US" sz="2046">
                <a:solidFill>
                  <a:srgbClr val="000000"/>
                </a:solidFill>
                <a:latin typeface="Poppins"/>
                <a:ea typeface="Poppins"/>
                <a:cs typeface="Poppins"/>
                <a:sym typeface="Poppins"/>
              </a:rPr>
              <a:t>    Attendance_Date DATE,</a:t>
            </a:r>
          </a:p>
          <a:p>
            <a:pPr algn="just">
              <a:lnSpc>
                <a:spcPts val="2864"/>
              </a:lnSpc>
            </a:pPr>
            <a:r>
              <a:rPr lang="en-US" sz="2046">
                <a:solidFill>
                  <a:srgbClr val="000000"/>
                </a:solidFill>
                <a:latin typeface="Poppins"/>
                <a:ea typeface="Poppins"/>
                <a:cs typeface="Poppins"/>
                <a:sym typeface="Poppins"/>
              </a:rPr>
              <a:t>    Attendance_Status VARCHAR(10) CHECK (Attendance_Status IN ('Present', 'Absent', 'Late')),</a:t>
            </a:r>
          </a:p>
          <a:p>
            <a:pPr algn="just">
              <a:lnSpc>
                <a:spcPts val="2864"/>
              </a:lnSpc>
            </a:pPr>
            <a:r>
              <a:rPr lang="en-US" sz="2046">
                <a:solidFill>
                  <a:srgbClr val="000000"/>
                </a:solidFill>
                <a:latin typeface="Poppins"/>
                <a:ea typeface="Poppins"/>
                <a:cs typeface="Poppins"/>
                <a:sym typeface="Poppins"/>
              </a:rPr>
              <a:t>    CONSTRAINT pk_Attendance PRIMARY KEY(Attendance_ID),</a:t>
            </a:r>
          </a:p>
          <a:p>
            <a:pPr algn="just">
              <a:lnSpc>
                <a:spcPts val="2864"/>
              </a:lnSpc>
            </a:pPr>
            <a:r>
              <a:rPr lang="en-US" sz="2046">
                <a:solidFill>
                  <a:srgbClr val="000000"/>
                </a:solidFill>
                <a:latin typeface="Poppins"/>
                <a:ea typeface="Poppins"/>
                <a:cs typeface="Poppins"/>
                <a:sym typeface="Poppins"/>
              </a:rPr>
              <a:t>    CONSTRAINT fk_Enrollments_Attendance FOREIGN KEY(Enrollment_ID) REFERENCES Enrollments(Enrollment_ID)</a:t>
            </a:r>
          </a:p>
          <a:p>
            <a:pPr algn="just">
              <a:lnSpc>
                <a:spcPts val="2864"/>
              </a:lnSpc>
            </a:pPr>
            <a:r>
              <a:rPr lang="en-US" sz="2046">
                <a:solidFill>
                  <a:srgbClr val="000000"/>
                </a:solidFill>
                <a:latin typeface="Poppins"/>
                <a:ea typeface="Poppins"/>
                <a:cs typeface="Poppins"/>
                <a:sym typeface="Poppins"/>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1D4A"/>
        </a:solidFill>
      </p:bgPr>
    </p:bg>
    <p:spTree>
      <p:nvGrpSpPr>
        <p:cNvPr id="1" name=""/>
        <p:cNvGrpSpPr/>
        <p:nvPr/>
      </p:nvGrpSpPr>
      <p:grpSpPr>
        <a:xfrm>
          <a:off x="0" y="0"/>
          <a:ext cx="0" cy="0"/>
          <a:chOff x="0" y="0"/>
          <a:chExt cx="0" cy="0"/>
        </a:xfrm>
      </p:grpSpPr>
      <p:sp>
        <p:nvSpPr>
          <p:cNvPr name="Freeform 2" id="2"/>
          <p:cNvSpPr/>
          <p:nvPr/>
        </p:nvSpPr>
        <p:spPr>
          <a:xfrm flipH="false" flipV="false" rot="0">
            <a:off x="2334825" y="2495697"/>
            <a:ext cx="13295033" cy="7116753"/>
          </a:xfrm>
          <a:custGeom>
            <a:avLst/>
            <a:gdLst/>
            <a:ahLst/>
            <a:cxnLst/>
            <a:rect r="r" b="b" t="t" l="l"/>
            <a:pathLst>
              <a:path h="7116753" w="13295033">
                <a:moveTo>
                  <a:pt x="0" y="0"/>
                </a:moveTo>
                <a:lnTo>
                  <a:pt x="13295032" y="0"/>
                </a:lnTo>
                <a:lnTo>
                  <a:pt x="13295032" y="7116753"/>
                </a:lnTo>
                <a:lnTo>
                  <a:pt x="0" y="7116753"/>
                </a:lnTo>
                <a:lnTo>
                  <a:pt x="0" y="0"/>
                </a:lnTo>
                <a:close/>
              </a:path>
            </a:pathLst>
          </a:custGeom>
          <a:blipFill>
            <a:blip r:embed="rId2"/>
            <a:stretch>
              <a:fillRect l="0" t="0" r="0" b="0"/>
            </a:stretch>
          </a:blipFill>
        </p:spPr>
      </p:sp>
      <p:sp>
        <p:nvSpPr>
          <p:cNvPr name="TextBox 3" id="3"/>
          <p:cNvSpPr txBox="true"/>
          <p:nvPr/>
        </p:nvSpPr>
        <p:spPr>
          <a:xfrm rot="0">
            <a:off x="2921386" y="1143000"/>
            <a:ext cx="17302340" cy="2222583"/>
          </a:xfrm>
          <a:prstGeom prst="rect">
            <a:avLst/>
          </a:prstGeom>
        </p:spPr>
        <p:txBody>
          <a:bodyPr anchor="t" rtlCol="false" tIns="0" lIns="0" bIns="0" rIns="0">
            <a:spAutoFit/>
          </a:bodyPr>
          <a:lstStyle/>
          <a:p>
            <a:pPr algn="l">
              <a:lnSpc>
                <a:spcPts val="8197"/>
              </a:lnSpc>
            </a:pPr>
            <a:r>
              <a:rPr lang="en-US" sz="8539" spc="-350" b="true">
                <a:solidFill>
                  <a:srgbClr val="ECA400"/>
                </a:solidFill>
                <a:latin typeface="Poppins Bold"/>
                <a:ea typeface="Poppins Bold"/>
                <a:cs typeface="Poppins Bold"/>
                <a:sym typeface="Poppins Bold"/>
              </a:rPr>
              <a:t>Data Population (DML)</a:t>
            </a:r>
          </a:p>
          <a:p>
            <a:pPr algn="l">
              <a:lnSpc>
                <a:spcPts val="8197"/>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00443" y="2583681"/>
            <a:ext cx="12687115" cy="6791338"/>
          </a:xfrm>
          <a:custGeom>
            <a:avLst/>
            <a:gdLst/>
            <a:ahLst/>
            <a:cxnLst/>
            <a:rect r="r" b="b" t="t" l="l"/>
            <a:pathLst>
              <a:path h="6791338" w="12687115">
                <a:moveTo>
                  <a:pt x="0" y="0"/>
                </a:moveTo>
                <a:lnTo>
                  <a:pt x="12687114" y="0"/>
                </a:lnTo>
                <a:lnTo>
                  <a:pt x="12687114" y="6791338"/>
                </a:lnTo>
                <a:lnTo>
                  <a:pt x="0" y="6791338"/>
                </a:lnTo>
                <a:lnTo>
                  <a:pt x="0" y="0"/>
                </a:lnTo>
                <a:close/>
              </a:path>
            </a:pathLst>
          </a:custGeom>
          <a:blipFill>
            <a:blip r:embed="rId2"/>
            <a:stretch>
              <a:fillRect l="0" t="0" r="0" b="0"/>
            </a:stretch>
          </a:blipFill>
        </p:spPr>
      </p:sp>
      <p:sp>
        <p:nvSpPr>
          <p:cNvPr name="TextBox 3" id="3"/>
          <p:cNvSpPr txBox="true"/>
          <p:nvPr/>
        </p:nvSpPr>
        <p:spPr>
          <a:xfrm rot="0">
            <a:off x="2921386" y="1143000"/>
            <a:ext cx="17302340" cy="2222583"/>
          </a:xfrm>
          <a:prstGeom prst="rect">
            <a:avLst/>
          </a:prstGeom>
        </p:spPr>
        <p:txBody>
          <a:bodyPr anchor="t" rtlCol="false" tIns="0" lIns="0" bIns="0" rIns="0">
            <a:spAutoFit/>
          </a:bodyPr>
          <a:lstStyle/>
          <a:p>
            <a:pPr algn="l">
              <a:lnSpc>
                <a:spcPts val="8197"/>
              </a:lnSpc>
            </a:pPr>
            <a:r>
              <a:rPr lang="en-US" sz="8539" spc="-350" b="true">
                <a:solidFill>
                  <a:srgbClr val="ECA400"/>
                </a:solidFill>
                <a:latin typeface="Poppins Bold"/>
                <a:ea typeface="Poppins Bold"/>
                <a:cs typeface="Poppins Bold"/>
                <a:sym typeface="Poppins Bold"/>
              </a:rPr>
              <a:t>Data Population (DML)</a:t>
            </a:r>
          </a:p>
          <a:p>
            <a:pPr algn="l">
              <a:lnSpc>
                <a:spcPts val="8197"/>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21826" y="2803642"/>
            <a:ext cx="12687115" cy="6791338"/>
          </a:xfrm>
          <a:custGeom>
            <a:avLst/>
            <a:gdLst/>
            <a:ahLst/>
            <a:cxnLst/>
            <a:rect r="r" b="b" t="t" l="l"/>
            <a:pathLst>
              <a:path h="6791338" w="12687115">
                <a:moveTo>
                  <a:pt x="0" y="0"/>
                </a:moveTo>
                <a:lnTo>
                  <a:pt x="12687115" y="0"/>
                </a:lnTo>
                <a:lnTo>
                  <a:pt x="12687115" y="6791337"/>
                </a:lnTo>
                <a:lnTo>
                  <a:pt x="0" y="6791337"/>
                </a:lnTo>
                <a:lnTo>
                  <a:pt x="0" y="0"/>
                </a:lnTo>
                <a:close/>
              </a:path>
            </a:pathLst>
          </a:custGeom>
          <a:blipFill>
            <a:blip r:embed="rId2"/>
            <a:stretch>
              <a:fillRect l="0" t="0" r="0" b="0"/>
            </a:stretch>
          </a:blipFill>
        </p:spPr>
      </p:sp>
      <p:sp>
        <p:nvSpPr>
          <p:cNvPr name="TextBox 3" id="3"/>
          <p:cNvSpPr txBox="true"/>
          <p:nvPr/>
        </p:nvSpPr>
        <p:spPr>
          <a:xfrm rot="0">
            <a:off x="2921386" y="1143000"/>
            <a:ext cx="17302340" cy="2222583"/>
          </a:xfrm>
          <a:prstGeom prst="rect">
            <a:avLst/>
          </a:prstGeom>
        </p:spPr>
        <p:txBody>
          <a:bodyPr anchor="t" rtlCol="false" tIns="0" lIns="0" bIns="0" rIns="0">
            <a:spAutoFit/>
          </a:bodyPr>
          <a:lstStyle/>
          <a:p>
            <a:pPr algn="l">
              <a:lnSpc>
                <a:spcPts val="8197"/>
              </a:lnSpc>
            </a:pPr>
            <a:r>
              <a:rPr lang="en-US" sz="8539" spc="-350" b="true">
                <a:solidFill>
                  <a:srgbClr val="ECA400"/>
                </a:solidFill>
                <a:latin typeface="Poppins Bold"/>
                <a:ea typeface="Poppins Bold"/>
                <a:cs typeface="Poppins Bold"/>
                <a:sym typeface="Poppins Bold"/>
              </a:rPr>
              <a:t>Data Population (DML)</a:t>
            </a:r>
          </a:p>
          <a:p>
            <a:pPr algn="l">
              <a:lnSpc>
                <a:spcPts val="8197"/>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1D4A"/>
        </a:solidFill>
      </p:bgPr>
    </p:bg>
    <p:spTree>
      <p:nvGrpSpPr>
        <p:cNvPr id="1" name=""/>
        <p:cNvGrpSpPr/>
        <p:nvPr/>
      </p:nvGrpSpPr>
      <p:grpSpPr>
        <a:xfrm>
          <a:off x="0" y="0"/>
          <a:ext cx="0" cy="0"/>
          <a:chOff x="0" y="0"/>
          <a:chExt cx="0" cy="0"/>
        </a:xfrm>
      </p:grpSpPr>
      <p:sp>
        <p:nvSpPr>
          <p:cNvPr name="Freeform 2" id="2"/>
          <p:cNvSpPr/>
          <p:nvPr/>
        </p:nvSpPr>
        <p:spPr>
          <a:xfrm flipH="false" flipV="false" rot="0">
            <a:off x="5958041" y="3528161"/>
            <a:ext cx="11301259" cy="6046174"/>
          </a:xfrm>
          <a:custGeom>
            <a:avLst/>
            <a:gdLst/>
            <a:ahLst/>
            <a:cxnLst/>
            <a:rect r="r" b="b" t="t" l="l"/>
            <a:pathLst>
              <a:path h="6046174" w="11301259">
                <a:moveTo>
                  <a:pt x="0" y="0"/>
                </a:moveTo>
                <a:lnTo>
                  <a:pt x="11301259" y="0"/>
                </a:lnTo>
                <a:lnTo>
                  <a:pt x="11301259" y="6046173"/>
                </a:lnTo>
                <a:lnTo>
                  <a:pt x="0" y="6046173"/>
                </a:lnTo>
                <a:lnTo>
                  <a:pt x="0" y="0"/>
                </a:lnTo>
                <a:close/>
              </a:path>
            </a:pathLst>
          </a:custGeom>
          <a:blipFill>
            <a:blip r:embed="rId2"/>
            <a:stretch>
              <a:fillRect l="0" t="0" r="0" b="0"/>
            </a:stretch>
          </a:blipFill>
        </p:spPr>
      </p:sp>
      <p:sp>
        <p:nvSpPr>
          <p:cNvPr name="TextBox 3" id="3"/>
          <p:cNvSpPr txBox="true"/>
          <p:nvPr/>
        </p:nvSpPr>
        <p:spPr>
          <a:xfrm rot="0">
            <a:off x="492830" y="981696"/>
            <a:ext cx="17302340" cy="3260882"/>
          </a:xfrm>
          <a:prstGeom prst="rect">
            <a:avLst/>
          </a:prstGeom>
        </p:spPr>
        <p:txBody>
          <a:bodyPr anchor="t" rtlCol="false" tIns="0" lIns="0" bIns="0" rIns="0">
            <a:spAutoFit/>
          </a:bodyPr>
          <a:lstStyle/>
          <a:p>
            <a:pPr algn="ctr">
              <a:lnSpc>
                <a:spcPts val="8197"/>
              </a:lnSpc>
            </a:pPr>
            <a:r>
              <a:rPr lang="en-US" b="true" sz="8539" spc="-350">
                <a:solidFill>
                  <a:srgbClr val="ECA400"/>
                </a:solidFill>
                <a:latin typeface="Poppins Bold"/>
                <a:ea typeface="Poppins Bold"/>
                <a:cs typeface="Poppins Bold"/>
                <a:sym typeface="Poppins Bold"/>
              </a:rPr>
              <a:t>Functional and Performance Testing</a:t>
            </a:r>
          </a:p>
          <a:p>
            <a:pPr algn="ctr">
              <a:lnSpc>
                <a:spcPts val="8197"/>
              </a:lnSpc>
            </a:pPr>
          </a:p>
        </p:txBody>
      </p:sp>
      <p:sp>
        <p:nvSpPr>
          <p:cNvPr name="TextBox 4" id="4"/>
          <p:cNvSpPr txBox="true"/>
          <p:nvPr/>
        </p:nvSpPr>
        <p:spPr>
          <a:xfrm rot="0">
            <a:off x="1207472" y="4801204"/>
            <a:ext cx="3618372" cy="2665665"/>
          </a:xfrm>
          <a:prstGeom prst="rect">
            <a:avLst/>
          </a:prstGeom>
        </p:spPr>
        <p:txBody>
          <a:bodyPr anchor="t" rtlCol="false" tIns="0" lIns="0" bIns="0" rIns="0">
            <a:spAutoFit/>
          </a:bodyPr>
          <a:lstStyle/>
          <a:p>
            <a:pPr algn="just">
              <a:lnSpc>
                <a:spcPts val="5289"/>
              </a:lnSpc>
            </a:pPr>
            <a:r>
              <a:rPr lang="en-US" sz="3778">
                <a:solidFill>
                  <a:srgbClr val="FFFFFF"/>
                </a:solidFill>
                <a:latin typeface="Poppins"/>
                <a:ea typeface="Poppins"/>
                <a:cs typeface="Poppins"/>
                <a:sym typeface="Poppins"/>
              </a:rPr>
              <a:t>Data Retrieval (SELECT with JOINs)</a:t>
            </a:r>
          </a:p>
          <a:p>
            <a:pPr algn="just">
              <a:lnSpc>
                <a:spcPts val="528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1D4A"/>
        </a:solidFill>
      </p:bgPr>
    </p:bg>
    <p:spTree>
      <p:nvGrpSpPr>
        <p:cNvPr id="1" name=""/>
        <p:cNvGrpSpPr/>
        <p:nvPr/>
      </p:nvGrpSpPr>
      <p:grpSpPr>
        <a:xfrm>
          <a:off x="0" y="0"/>
          <a:ext cx="0" cy="0"/>
          <a:chOff x="0" y="0"/>
          <a:chExt cx="0" cy="0"/>
        </a:xfrm>
      </p:grpSpPr>
      <p:sp>
        <p:nvSpPr>
          <p:cNvPr name="TextBox 2" id="2"/>
          <p:cNvSpPr txBox="true"/>
          <p:nvPr/>
        </p:nvSpPr>
        <p:spPr>
          <a:xfrm rot="0">
            <a:off x="492830" y="981696"/>
            <a:ext cx="17302340" cy="3260882"/>
          </a:xfrm>
          <a:prstGeom prst="rect">
            <a:avLst/>
          </a:prstGeom>
        </p:spPr>
        <p:txBody>
          <a:bodyPr anchor="t" rtlCol="false" tIns="0" lIns="0" bIns="0" rIns="0">
            <a:spAutoFit/>
          </a:bodyPr>
          <a:lstStyle/>
          <a:p>
            <a:pPr algn="ctr">
              <a:lnSpc>
                <a:spcPts val="8197"/>
              </a:lnSpc>
            </a:pPr>
            <a:r>
              <a:rPr lang="en-US" b="true" sz="8539" spc="-350">
                <a:solidFill>
                  <a:srgbClr val="ECA400"/>
                </a:solidFill>
                <a:latin typeface="Poppins Bold"/>
                <a:ea typeface="Poppins Bold"/>
                <a:cs typeface="Poppins Bold"/>
                <a:sym typeface="Poppins Bold"/>
              </a:rPr>
              <a:t>Functional and Performance Testing</a:t>
            </a:r>
          </a:p>
          <a:p>
            <a:pPr algn="ctr">
              <a:lnSpc>
                <a:spcPts val="8197"/>
              </a:lnSpc>
            </a:pPr>
          </a:p>
        </p:txBody>
      </p:sp>
      <p:sp>
        <p:nvSpPr>
          <p:cNvPr name="TextBox 3" id="3"/>
          <p:cNvSpPr txBox="true"/>
          <p:nvPr/>
        </p:nvSpPr>
        <p:spPr>
          <a:xfrm rot="0">
            <a:off x="1207472" y="4801204"/>
            <a:ext cx="3618372" cy="2001451"/>
          </a:xfrm>
          <a:prstGeom prst="rect">
            <a:avLst/>
          </a:prstGeom>
        </p:spPr>
        <p:txBody>
          <a:bodyPr anchor="t" rtlCol="false" tIns="0" lIns="0" bIns="0" rIns="0">
            <a:spAutoFit/>
          </a:bodyPr>
          <a:lstStyle/>
          <a:p>
            <a:pPr algn="just">
              <a:lnSpc>
                <a:spcPts val="5289"/>
              </a:lnSpc>
            </a:pPr>
            <a:r>
              <a:rPr lang="en-US" sz="3778">
                <a:solidFill>
                  <a:srgbClr val="FFFFFF"/>
                </a:solidFill>
                <a:latin typeface="Poppins"/>
                <a:ea typeface="Poppins"/>
                <a:cs typeface="Poppins"/>
                <a:sym typeface="Poppins"/>
              </a:rPr>
              <a:t>Inserting a New Student Record</a:t>
            </a:r>
          </a:p>
        </p:txBody>
      </p:sp>
      <p:sp>
        <p:nvSpPr>
          <p:cNvPr name="Freeform 4" id="4"/>
          <p:cNvSpPr/>
          <p:nvPr/>
        </p:nvSpPr>
        <p:spPr>
          <a:xfrm flipH="false" flipV="false" rot="0">
            <a:off x="5860040" y="3592576"/>
            <a:ext cx="11301259" cy="6046174"/>
          </a:xfrm>
          <a:custGeom>
            <a:avLst/>
            <a:gdLst/>
            <a:ahLst/>
            <a:cxnLst/>
            <a:rect r="r" b="b" t="t" l="l"/>
            <a:pathLst>
              <a:path h="6046174" w="11301259">
                <a:moveTo>
                  <a:pt x="0" y="0"/>
                </a:moveTo>
                <a:lnTo>
                  <a:pt x="11301259" y="0"/>
                </a:lnTo>
                <a:lnTo>
                  <a:pt x="11301259" y="6046174"/>
                </a:lnTo>
                <a:lnTo>
                  <a:pt x="0" y="6046174"/>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1D4A"/>
        </a:solidFill>
      </p:bgPr>
    </p:bg>
    <p:spTree>
      <p:nvGrpSpPr>
        <p:cNvPr id="1" name=""/>
        <p:cNvGrpSpPr/>
        <p:nvPr/>
      </p:nvGrpSpPr>
      <p:grpSpPr>
        <a:xfrm>
          <a:off x="0" y="0"/>
          <a:ext cx="0" cy="0"/>
          <a:chOff x="0" y="0"/>
          <a:chExt cx="0" cy="0"/>
        </a:xfrm>
      </p:grpSpPr>
      <p:sp>
        <p:nvSpPr>
          <p:cNvPr name="Freeform 2" id="2"/>
          <p:cNvSpPr/>
          <p:nvPr/>
        </p:nvSpPr>
        <p:spPr>
          <a:xfrm flipH="false" flipV="false" rot="0">
            <a:off x="5736968" y="3630809"/>
            <a:ext cx="11301259" cy="6046174"/>
          </a:xfrm>
          <a:custGeom>
            <a:avLst/>
            <a:gdLst/>
            <a:ahLst/>
            <a:cxnLst/>
            <a:rect r="r" b="b" t="t" l="l"/>
            <a:pathLst>
              <a:path h="6046174" w="11301259">
                <a:moveTo>
                  <a:pt x="0" y="0"/>
                </a:moveTo>
                <a:lnTo>
                  <a:pt x="11301259" y="0"/>
                </a:lnTo>
                <a:lnTo>
                  <a:pt x="11301259" y="6046173"/>
                </a:lnTo>
                <a:lnTo>
                  <a:pt x="0" y="6046173"/>
                </a:lnTo>
                <a:lnTo>
                  <a:pt x="0" y="0"/>
                </a:lnTo>
                <a:close/>
              </a:path>
            </a:pathLst>
          </a:custGeom>
          <a:blipFill>
            <a:blip r:embed="rId2"/>
            <a:stretch>
              <a:fillRect l="0" t="0" r="0" b="0"/>
            </a:stretch>
          </a:blipFill>
        </p:spPr>
      </p:sp>
      <p:sp>
        <p:nvSpPr>
          <p:cNvPr name="TextBox 3" id="3"/>
          <p:cNvSpPr txBox="true"/>
          <p:nvPr/>
        </p:nvSpPr>
        <p:spPr>
          <a:xfrm rot="0">
            <a:off x="492830" y="981696"/>
            <a:ext cx="17302340" cy="3260882"/>
          </a:xfrm>
          <a:prstGeom prst="rect">
            <a:avLst/>
          </a:prstGeom>
        </p:spPr>
        <p:txBody>
          <a:bodyPr anchor="t" rtlCol="false" tIns="0" lIns="0" bIns="0" rIns="0">
            <a:spAutoFit/>
          </a:bodyPr>
          <a:lstStyle/>
          <a:p>
            <a:pPr algn="ctr">
              <a:lnSpc>
                <a:spcPts val="8197"/>
              </a:lnSpc>
            </a:pPr>
            <a:r>
              <a:rPr lang="en-US" b="true" sz="8539" spc="-350">
                <a:solidFill>
                  <a:srgbClr val="ECA400"/>
                </a:solidFill>
                <a:latin typeface="Poppins Bold"/>
                <a:ea typeface="Poppins Bold"/>
                <a:cs typeface="Poppins Bold"/>
                <a:sym typeface="Poppins Bold"/>
              </a:rPr>
              <a:t>Functional and Performance Testing</a:t>
            </a:r>
          </a:p>
          <a:p>
            <a:pPr algn="ctr">
              <a:lnSpc>
                <a:spcPts val="8197"/>
              </a:lnSpc>
            </a:pPr>
          </a:p>
        </p:txBody>
      </p:sp>
      <p:sp>
        <p:nvSpPr>
          <p:cNvPr name="Freeform 4" id="4"/>
          <p:cNvSpPr/>
          <p:nvPr/>
        </p:nvSpPr>
        <p:spPr>
          <a:xfrm flipH="false" flipV="false" rot="0">
            <a:off x="5736968" y="3630809"/>
            <a:ext cx="11301259" cy="6046174"/>
          </a:xfrm>
          <a:custGeom>
            <a:avLst/>
            <a:gdLst/>
            <a:ahLst/>
            <a:cxnLst/>
            <a:rect r="r" b="b" t="t" l="l"/>
            <a:pathLst>
              <a:path h="6046174" w="11301259">
                <a:moveTo>
                  <a:pt x="0" y="0"/>
                </a:moveTo>
                <a:lnTo>
                  <a:pt x="11301259" y="0"/>
                </a:lnTo>
                <a:lnTo>
                  <a:pt x="11301259" y="6046173"/>
                </a:lnTo>
                <a:lnTo>
                  <a:pt x="0" y="6046173"/>
                </a:lnTo>
                <a:lnTo>
                  <a:pt x="0" y="0"/>
                </a:lnTo>
                <a:close/>
              </a:path>
            </a:pathLst>
          </a:custGeom>
          <a:blipFill>
            <a:blip r:embed="rId3"/>
            <a:stretch>
              <a:fillRect l="0" t="0" r="0" b="0"/>
            </a:stretch>
          </a:blipFill>
        </p:spPr>
      </p:sp>
      <p:sp>
        <p:nvSpPr>
          <p:cNvPr name="TextBox 5" id="5"/>
          <p:cNvSpPr txBox="true"/>
          <p:nvPr/>
        </p:nvSpPr>
        <p:spPr>
          <a:xfrm rot="0">
            <a:off x="1207472" y="4801204"/>
            <a:ext cx="3046475" cy="2001451"/>
          </a:xfrm>
          <a:prstGeom prst="rect">
            <a:avLst/>
          </a:prstGeom>
        </p:spPr>
        <p:txBody>
          <a:bodyPr anchor="t" rtlCol="false" tIns="0" lIns="0" bIns="0" rIns="0">
            <a:spAutoFit/>
          </a:bodyPr>
          <a:lstStyle/>
          <a:p>
            <a:pPr algn="just">
              <a:lnSpc>
                <a:spcPts val="5289"/>
              </a:lnSpc>
            </a:pPr>
            <a:r>
              <a:rPr lang="en-US" sz="3778">
                <a:solidFill>
                  <a:srgbClr val="FFFFFF"/>
                </a:solidFill>
                <a:latin typeface="Poppins"/>
                <a:ea typeface="Poppins"/>
                <a:cs typeface="Poppins"/>
                <a:sym typeface="Poppins"/>
              </a:rPr>
              <a:t>Updating an Existing Record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1D4A"/>
        </a:solidFill>
      </p:bgPr>
    </p:bg>
    <p:spTree>
      <p:nvGrpSpPr>
        <p:cNvPr id="1" name=""/>
        <p:cNvGrpSpPr/>
        <p:nvPr/>
      </p:nvGrpSpPr>
      <p:grpSpPr>
        <a:xfrm>
          <a:off x="0" y="0"/>
          <a:ext cx="0" cy="0"/>
          <a:chOff x="0" y="0"/>
          <a:chExt cx="0" cy="0"/>
        </a:xfrm>
      </p:grpSpPr>
      <p:sp>
        <p:nvSpPr>
          <p:cNvPr name="Freeform 2" id="2"/>
          <p:cNvSpPr/>
          <p:nvPr/>
        </p:nvSpPr>
        <p:spPr>
          <a:xfrm flipH="false" flipV="false" rot="0">
            <a:off x="5487679" y="3674801"/>
            <a:ext cx="11301259" cy="6046174"/>
          </a:xfrm>
          <a:custGeom>
            <a:avLst/>
            <a:gdLst/>
            <a:ahLst/>
            <a:cxnLst/>
            <a:rect r="r" b="b" t="t" l="l"/>
            <a:pathLst>
              <a:path h="6046174" w="11301259">
                <a:moveTo>
                  <a:pt x="0" y="0"/>
                </a:moveTo>
                <a:lnTo>
                  <a:pt x="11301259" y="0"/>
                </a:lnTo>
                <a:lnTo>
                  <a:pt x="11301259" y="6046174"/>
                </a:lnTo>
                <a:lnTo>
                  <a:pt x="0" y="6046174"/>
                </a:lnTo>
                <a:lnTo>
                  <a:pt x="0" y="0"/>
                </a:lnTo>
                <a:close/>
              </a:path>
            </a:pathLst>
          </a:custGeom>
          <a:blipFill>
            <a:blip r:embed="rId2"/>
            <a:stretch>
              <a:fillRect l="0" t="0" r="0" b="0"/>
            </a:stretch>
          </a:blipFill>
        </p:spPr>
      </p:sp>
      <p:sp>
        <p:nvSpPr>
          <p:cNvPr name="TextBox 3" id="3"/>
          <p:cNvSpPr txBox="true"/>
          <p:nvPr/>
        </p:nvSpPr>
        <p:spPr>
          <a:xfrm rot="0">
            <a:off x="492830" y="981696"/>
            <a:ext cx="17302340" cy="3260882"/>
          </a:xfrm>
          <a:prstGeom prst="rect">
            <a:avLst/>
          </a:prstGeom>
        </p:spPr>
        <p:txBody>
          <a:bodyPr anchor="t" rtlCol="false" tIns="0" lIns="0" bIns="0" rIns="0">
            <a:spAutoFit/>
          </a:bodyPr>
          <a:lstStyle/>
          <a:p>
            <a:pPr algn="ctr">
              <a:lnSpc>
                <a:spcPts val="8197"/>
              </a:lnSpc>
            </a:pPr>
            <a:r>
              <a:rPr lang="en-US" b="true" sz="8539" spc="-350">
                <a:solidFill>
                  <a:srgbClr val="ECA400"/>
                </a:solidFill>
                <a:latin typeface="Poppins Bold"/>
                <a:ea typeface="Poppins Bold"/>
                <a:cs typeface="Poppins Bold"/>
                <a:sym typeface="Poppins Bold"/>
              </a:rPr>
              <a:t>Functional and Performance Testing</a:t>
            </a:r>
          </a:p>
          <a:p>
            <a:pPr algn="ctr">
              <a:lnSpc>
                <a:spcPts val="8197"/>
              </a:lnSpc>
            </a:pPr>
          </a:p>
        </p:txBody>
      </p:sp>
      <p:sp>
        <p:nvSpPr>
          <p:cNvPr name="TextBox 4" id="4"/>
          <p:cNvSpPr txBox="true"/>
          <p:nvPr/>
        </p:nvSpPr>
        <p:spPr>
          <a:xfrm rot="0">
            <a:off x="1207472" y="4801204"/>
            <a:ext cx="3046475" cy="3329879"/>
          </a:xfrm>
          <a:prstGeom prst="rect">
            <a:avLst/>
          </a:prstGeom>
        </p:spPr>
        <p:txBody>
          <a:bodyPr anchor="t" rtlCol="false" tIns="0" lIns="0" bIns="0" rIns="0">
            <a:spAutoFit/>
          </a:bodyPr>
          <a:lstStyle/>
          <a:p>
            <a:pPr algn="just">
              <a:lnSpc>
                <a:spcPts val="5289"/>
              </a:lnSpc>
            </a:pPr>
            <a:r>
              <a:rPr lang="en-US" sz="3778">
                <a:solidFill>
                  <a:srgbClr val="FFFFFF"/>
                </a:solidFill>
                <a:latin typeface="Poppins"/>
                <a:ea typeface="Poppins"/>
                <a:cs typeface="Poppins"/>
                <a:sym typeface="Poppins"/>
              </a:rPr>
              <a:t>Calculating Average Grade for a Course</a:t>
            </a:r>
          </a:p>
          <a:p>
            <a:pPr algn="just">
              <a:lnSpc>
                <a:spcPts val="528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1D4A"/>
        </a:solidFill>
      </p:bgPr>
    </p:bg>
    <p:spTree>
      <p:nvGrpSpPr>
        <p:cNvPr id="1" name=""/>
        <p:cNvGrpSpPr/>
        <p:nvPr/>
      </p:nvGrpSpPr>
      <p:grpSpPr>
        <a:xfrm>
          <a:off x="0" y="0"/>
          <a:ext cx="0" cy="0"/>
          <a:chOff x="0" y="0"/>
          <a:chExt cx="0" cy="0"/>
        </a:xfrm>
      </p:grpSpPr>
      <p:sp>
        <p:nvSpPr>
          <p:cNvPr name="Freeform 2" id="2"/>
          <p:cNvSpPr/>
          <p:nvPr/>
        </p:nvSpPr>
        <p:spPr>
          <a:xfrm flipH="false" flipV="false" rot="0">
            <a:off x="5751632" y="3495444"/>
            <a:ext cx="11301259" cy="6046174"/>
          </a:xfrm>
          <a:custGeom>
            <a:avLst/>
            <a:gdLst/>
            <a:ahLst/>
            <a:cxnLst/>
            <a:rect r="r" b="b" t="t" l="l"/>
            <a:pathLst>
              <a:path h="6046174" w="11301259">
                <a:moveTo>
                  <a:pt x="0" y="0"/>
                </a:moveTo>
                <a:lnTo>
                  <a:pt x="11301259" y="0"/>
                </a:lnTo>
                <a:lnTo>
                  <a:pt x="11301259" y="6046174"/>
                </a:lnTo>
                <a:lnTo>
                  <a:pt x="0" y="6046174"/>
                </a:lnTo>
                <a:lnTo>
                  <a:pt x="0" y="0"/>
                </a:lnTo>
                <a:close/>
              </a:path>
            </a:pathLst>
          </a:custGeom>
          <a:blipFill>
            <a:blip r:embed="rId2"/>
            <a:stretch>
              <a:fillRect l="0" t="0" r="0" b="0"/>
            </a:stretch>
          </a:blipFill>
        </p:spPr>
      </p:sp>
      <p:sp>
        <p:nvSpPr>
          <p:cNvPr name="TextBox 3" id="3"/>
          <p:cNvSpPr txBox="true"/>
          <p:nvPr/>
        </p:nvSpPr>
        <p:spPr>
          <a:xfrm rot="0">
            <a:off x="492830" y="981696"/>
            <a:ext cx="17302340" cy="3260882"/>
          </a:xfrm>
          <a:prstGeom prst="rect">
            <a:avLst/>
          </a:prstGeom>
        </p:spPr>
        <p:txBody>
          <a:bodyPr anchor="t" rtlCol="false" tIns="0" lIns="0" bIns="0" rIns="0">
            <a:spAutoFit/>
          </a:bodyPr>
          <a:lstStyle/>
          <a:p>
            <a:pPr algn="ctr">
              <a:lnSpc>
                <a:spcPts val="8197"/>
              </a:lnSpc>
            </a:pPr>
            <a:r>
              <a:rPr lang="en-US" b="true" sz="8539" spc="-350">
                <a:solidFill>
                  <a:srgbClr val="ECA400"/>
                </a:solidFill>
                <a:latin typeface="Poppins Bold"/>
                <a:ea typeface="Poppins Bold"/>
                <a:cs typeface="Poppins Bold"/>
                <a:sym typeface="Poppins Bold"/>
              </a:rPr>
              <a:t>Functional and Performance Testing</a:t>
            </a:r>
          </a:p>
          <a:p>
            <a:pPr algn="ctr">
              <a:lnSpc>
                <a:spcPts val="8197"/>
              </a:lnSpc>
            </a:pPr>
          </a:p>
        </p:txBody>
      </p:sp>
      <p:sp>
        <p:nvSpPr>
          <p:cNvPr name="TextBox 4" id="4"/>
          <p:cNvSpPr txBox="true"/>
          <p:nvPr/>
        </p:nvSpPr>
        <p:spPr>
          <a:xfrm rot="0">
            <a:off x="1207472" y="4801204"/>
            <a:ext cx="3046475" cy="3329879"/>
          </a:xfrm>
          <a:prstGeom prst="rect">
            <a:avLst/>
          </a:prstGeom>
        </p:spPr>
        <p:txBody>
          <a:bodyPr anchor="t" rtlCol="false" tIns="0" lIns="0" bIns="0" rIns="0">
            <a:spAutoFit/>
          </a:bodyPr>
          <a:lstStyle/>
          <a:p>
            <a:pPr algn="just">
              <a:lnSpc>
                <a:spcPts val="5289"/>
              </a:lnSpc>
            </a:pPr>
            <a:r>
              <a:rPr lang="en-US" sz="3778">
                <a:solidFill>
                  <a:srgbClr val="FFFFFF"/>
                </a:solidFill>
                <a:latin typeface="Poppins"/>
                <a:ea typeface="Poppins"/>
                <a:cs typeface="Poppins"/>
                <a:sym typeface="Poppins"/>
              </a:rPr>
              <a:t>Counting Total "Present" Attendance</a:t>
            </a:r>
          </a:p>
          <a:p>
            <a:pPr algn="just">
              <a:lnSpc>
                <a:spcPts val="528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1D4A"/>
        </a:solidFill>
      </p:bgPr>
    </p:bg>
    <p:spTree>
      <p:nvGrpSpPr>
        <p:cNvPr id="1" name=""/>
        <p:cNvGrpSpPr/>
        <p:nvPr/>
      </p:nvGrpSpPr>
      <p:grpSpPr>
        <a:xfrm>
          <a:off x="0" y="0"/>
          <a:ext cx="0" cy="0"/>
          <a:chOff x="0" y="0"/>
          <a:chExt cx="0" cy="0"/>
        </a:xfrm>
      </p:grpSpPr>
      <p:sp>
        <p:nvSpPr>
          <p:cNvPr name="Freeform 2" id="2"/>
          <p:cNvSpPr/>
          <p:nvPr/>
        </p:nvSpPr>
        <p:spPr>
          <a:xfrm flipH="false" flipV="false" rot="0">
            <a:off x="5487679" y="3115355"/>
            <a:ext cx="11301259" cy="6046174"/>
          </a:xfrm>
          <a:custGeom>
            <a:avLst/>
            <a:gdLst/>
            <a:ahLst/>
            <a:cxnLst/>
            <a:rect r="r" b="b" t="t" l="l"/>
            <a:pathLst>
              <a:path h="6046174" w="11301259">
                <a:moveTo>
                  <a:pt x="0" y="0"/>
                </a:moveTo>
                <a:lnTo>
                  <a:pt x="11301259" y="0"/>
                </a:lnTo>
                <a:lnTo>
                  <a:pt x="11301259" y="6046173"/>
                </a:lnTo>
                <a:lnTo>
                  <a:pt x="0" y="6046173"/>
                </a:lnTo>
                <a:lnTo>
                  <a:pt x="0" y="0"/>
                </a:lnTo>
                <a:close/>
              </a:path>
            </a:pathLst>
          </a:custGeom>
          <a:blipFill>
            <a:blip r:embed="rId2"/>
            <a:stretch>
              <a:fillRect l="0" t="0" r="0" b="0"/>
            </a:stretch>
          </a:blipFill>
        </p:spPr>
      </p:sp>
      <p:sp>
        <p:nvSpPr>
          <p:cNvPr name="TextBox 3" id="3"/>
          <p:cNvSpPr txBox="true"/>
          <p:nvPr/>
        </p:nvSpPr>
        <p:spPr>
          <a:xfrm rot="0">
            <a:off x="492830" y="981696"/>
            <a:ext cx="17302340" cy="2222583"/>
          </a:xfrm>
          <a:prstGeom prst="rect">
            <a:avLst/>
          </a:prstGeom>
        </p:spPr>
        <p:txBody>
          <a:bodyPr anchor="t" rtlCol="false" tIns="0" lIns="0" bIns="0" rIns="0">
            <a:spAutoFit/>
          </a:bodyPr>
          <a:lstStyle/>
          <a:p>
            <a:pPr algn="ctr">
              <a:lnSpc>
                <a:spcPts val="8197"/>
              </a:lnSpc>
            </a:pPr>
            <a:r>
              <a:rPr lang="en-US" b="true" sz="8539" spc="-350">
                <a:solidFill>
                  <a:srgbClr val="ECA400"/>
                </a:solidFill>
                <a:latin typeface="Poppins Bold"/>
                <a:ea typeface="Poppins Bold"/>
                <a:cs typeface="Poppins Bold"/>
                <a:sym typeface="Poppins Bold"/>
              </a:rPr>
              <a:t>Security Testing</a:t>
            </a:r>
          </a:p>
          <a:p>
            <a:pPr algn="ctr">
              <a:lnSpc>
                <a:spcPts val="8197"/>
              </a:lnSpc>
            </a:pPr>
          </a:p>
        </p:txBody>
      </p:sp>
      <p:sp>
        <p:nvSpPr>
          <p:cNvPr name="TextBox 4" id="4"/>
          <p:cNvSpPr txBox="true"/>
          <p:nvPr/>
        </p:nvSpPr>
        <p:spPr>
          <a:xfrm rot="0">
            <a:off x="1207472" y="4801204"/>
            <a:ext cx="3046475" cy="1337237"/>
          </a:xfrm>
          <a:prstGeom prst="rect">
            <a:avLst/>
          </a:prstGeom>
        </p:spPr>
        <p:txBody>
          <a:bodyPr anchor="t" rtlCol="false" tIns="0" lIns="0" bIns="0" rIns="0">
            <a:spAutoFit/>
          </a:bodyPr>
          <a:lstStyle/>
          <a:p>
            <a:pPr algn="just">
              <a:lnSpc>
                <a:spcPts val="5289"/>
              </a:lnSpc>
            </a:pPr>
            <a:r>
              <a:rPr lang="en-US" sz="3778">
                <a:solidFill>
                  <a:srgbClr val="FFFFFF"/>
                </a:solidFill>
                <a:latin typeface="Poppins"/>
                <a:ea typeface="Poppins"/>
                <a:cs typeface="Poppins"/>
                <a:sym typeface="Poppins"/>
              </a:rPr>
              <a:t>User Access Restrictions </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25520" y="1133475"/>
            <a:ext cx="14312359" cy="1000969"/>
          </a:xfrm>
          <a:prstGeom prst="rect">
            <a:avLst/>
          </a:prstGeom>
        </p:spPr>
        <p:txBody>
          <a:bodyPr anchor="t" rtlCol="false" tIns="0" lIns="0" bIns="0" rIns="0">
            <a:spAutoFit/>
          </a:bodyPr>
          <a:lstStyle/>
          <a:p>
            <a:pPr algn="l">
              <a:lnSpc>
                <a:spcPts val="6980"/>
              </a:lnSpc>
            </a:pPr>
            <a:r>
              <a:rPr lang="en-US" sz="7271" spc="-298" b="true">
                <a:solidFill>
                  <a:srgbClr val="ECA400"/>
                </a:solidFill>
                <a:latin typeface="Poppins Bold"/>
                <a:ea typeface="Poppins Bold"/>
                <a:cs typeface="Poppins Bold"/>
                <a:sym typeface="Poppins Bold"/>
              </a:rPr>
              <a:t>CONCLUSION</a:t>
            </a:r>
          </a:p>
        </p:txBody>
      </p:sp>
      <p:sp>
        <p:nvSpPr>
          <p:cNvPr name="TextBox 3" id="3"/>
          <p:cNvSpPr txBox="true"/>
          <p:nvPr/>
        </p:nvSpPr>
        <p:spPr>
          <a:xfrm rot="0">
            <a:off x="825520" y="2190602"/>
            <a:ext cx="16962212" cy="8096398"/>
          </a:xfrm>
          <a:prstGeom prst="rect">
            <a:avLst/>
          </a:prstGeom>
        </p:spPr>
        <p:txBody>
          <a:bodyPr anchor="t" rtlCol="false" tIns="0" lIns="0" bIns="0" rIns="0">
            <a:spAutoFit/>
          </a:bodyPr>
          <a:lstStyle/>
          <a:p>
            <a:pPr algn="just">
              <a:lnSpc>
                <a:spcPts val="3990"/>
              </a:lnSpc>
            </a:pPr>
            <a:r>
              <a:rPr lang="en-US" sz="2850">
                <a:solidFill>
                  <a:srgbClr val="000000"/>
                </a:solidFill>
                <a:latin typeface="Poppins"/>
                <a:ea typeface="Poppins"/>
                <a:cs typeface="Poppins"/>
                <a:sym typeface="Poppins"/>
              </a:rPr>
              <a:t>Conclusion &amp; Lessons Learned</a:t>
            </a:r>
          </a:p>
          <a:p>
            <a:pPr algn="just">
              <a:lnSpc>
                <a:spcPts val="3990"/>
              </a:lnSpc>
            </a:pPr>
            <a:r>
              <a:rPr lang="en-US" sz="2850">
                <a:solidFill>
                  <a:srgbClr val="000000"/>
                </a:solidFill>
                <a:latin typeface="Poppins"/>
                <a:ea typeface="Poppins"/>
                <a:cs typeface="Poppins"/>
                <a:sym typeface="Poppins"/>
              </a:rPr>
              <a:t>Project Recap</a:t>
            </a:r>
          </a:p>
          <a:p>
            <a:pPr algn="just" marL="615349" indent="-307674" lvl="1">
              <a:lnSpc>
                <a:spcPts val="3990"/>
              </a:lnSpc>
              <a:buFont typeface="Arial"/>
              <a:buChar char="•"/>
            </a:pPr>
            <a:r>
              <a:rPr lang="en-US" sz="2850">
                <a:solidFill>
                  <a:srgbClr val="000000"/>
                </a:solidFill>
                <a:latin typeface="Poppins"/>
                <a:ea typeface="Poppins"/>
                <a:cs typeface="Poppins"/>
                <a:sym typeface="Poppins"/>
              </a:rPr>
              <a:t>3NF Compliant: Our data is now organized into a professional, "lean" structure that eliminates duplicates.</a:t>
            </a:r>
          </a:p>
          <a:p>
            <a:pPr algn="just" marL="615349" indent="-307674" lvl="1">
              <a:lnSpc>
                <a:spcPts val="3990"/>
              </a:lnSpc>
              <a:buFont typeface="Arial"/>
              <a:buChar char="•"/>
            </a:pPr>
            <a:r>
              <a:rPr lang="en-US" sz="2850">
                <a:solidFill>
                  <a:srgbClr val="000000"/>
                </a:solidFill>
                <a:latin typeface="Poppins"/>
                <a:ea typeface="Poppins"/>
                <a:cs typeface="Poppins"/>
                <a:sym typeface="Poppins"/>
              </a:rPr>
              <a:t>Storage Efficiency: By removing redundant info, the database uses less memory and runs faster.</a:t>
            </a:r>
          </a:p>
          <a:p>
            <a:pPr algn="just" marL="615349" indent="-307674" lvl="1">
              <a:lnSpc>
                <a:spcPts val="3990"/>
              </a:lnSpc>
              <a:buFont typeface="Arial"/>
              <a:buChar char="•"/>
            </a:pPr>
            <a:r>
              <a:rPr lang="en-US" sz="2850">
                <a:solidFill>
                  <a:srgbClr val="000000"/>
                </a:solidFill>
                <a:latin typeface="Poppins"/>
                <a:ea typeface="Poppins"/>
                <a:cs typeface="Poppins"/>
                <a:sym typeface="Poppins"/>
              </a:rPr>
              <a:t>Locked &amp; Secure: Our testing proves that unauthorized grade changes are blocked by the system.</a:t>
            </a:r>
          </a:p>
          <a:p>
            <a:pPr algn="just">
              <a:lnSpc>
                <a:spcPts val="3990"/>
              </a:lnSpc>
            </a:pPr>
            <a:r>
              <a:rPr lang="en-US" sz="2850">
                <a:solidFill>
                  <a:srgbClr val="000000"/>
                </a:solidFill>
                <a:latin typeface="Poppins"/>
                <a:ea typeface="Poppins"/>
                <a:cs typeface="Poppins"/>
                <a:sym typeface="Poppins"/>
              </a:rPr>
              <a:t>Reflections</a:t>
            </a:r>
          </a:p>
          <a:p>
            <a:pPr algn="just" marL="615349" indent="-307674" lvl="1">
              <a:lnSpc>
                <a:spcPts val="3990"/>
              </a:lnSpc>
              <a:buFont typeface="Arial"/>
              <a:buChar char="•"/>
            </a:pPr>
            <a:r>
              <a:rPr lang="en-US" sz="2850">
                <a:solidFill>
                  <a:srgbClr val="000000"/>
                </a:solidFill>
                <a:latin typeface="Poppins"/>
                <a:ea typeface="Poppins"/>
                <a:cs typeface="Poppins"/>
                <a:sym typeface="Poppins"/>
              </a:rPr>
              <a:t>Design First: We learned that spending time on the ERD saves hours of troubleshooting during the coding phase.</a:t>
            </a:r>
          </a:p>
          <a:p>
            <a:pPr algn="just" marL="615349" indent="-307674" lvl="1">
              <a:lnSpc>
                <a:spcPts val="3990"/>
              </a:lnSpc>
              <a:buFont typeface="Arial"/>
              <a:buChar char="•"/>
            </a:pPr>
            <a:r>
              <a:rPr lang="en-US" sz="2850">
                <a:solidFill>
                  <a:srgbClr val="000000"/>
                </a:solidFill>
                <a:latin typeface="Poppins"/>
                <a:ea typeface="Poppins"/>
                <a:cs typeface="Poppins"/>
                <a:sym typeface="Poppins"/>
              </a:rPr>
              <a:t>Accuracy Matters: Proper data types (like using decimals for grades) are essential for maintaining a fair academic record.</a:t>
            </a:r>
          </a:p>
          <a:p>
            <a:pPr algn="just" marL="615349" indent="-307674" lvl="1">
              <a:lnSpc>
                <a:spcPts val="3990"/>
              </a:lnSpc>
              <a:buFont typeface="Arial"/>
              <a:buChar char="•"/>
            </a:pPr>
            <a:r>
              <a:rPr lang="en-US" sz="2850">
                <a:solidFill>
                  <a:srgbClr val="000000"/>
                </a:solidFill>
                <a:latin typeface="Poppins"/>
                <a:ea typeface="Poppins"/>
                <a:cs typeface="Poppins"/>
                <a:sym typeface="Poppins"/>
              </a:rPr>
              <a:t>Teamwork: Using tools like GitHub allowed us to manage our SQL scripts effectively without losing work.</a:t>
            </a:r>
          </a:p>
          <a:p>
            <a:pPr algn="just">
              <a:lnSpc>
                <a:spcPts val="3990"/>
              </a:lnSpc>
            </a:pP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001D4A"/>
        </a:solidFill>
      </p:bgPr>
    </p:bg>
    <p:spTree>
      <p:nvGrpSpPr>
        <p:cNvPr id="1" name=""/>
        <p:cNvGrpSpPr/>
        <p:nvPr/>
      </p:nvGrpSpPr>
      <p:grpSpPr>
        <a:xfrm>
          <a:off x="0" y="0"/>
          <a:ext cx="0" cy="0"/>
          <a:chOff x="0" y="0"/>
          <a:chExt cx="0" cy="0"/>
        </a:xfrm>
      </p:grpSpPr>
      <p:sp>
        <p:nvSpPr>
          <p:cNvPr name="TextBox 2" id="2"/>
          <p:cNvSpPr txBox="true"/>
          <p:nvPr/>
        </p:nvSpPr>
        <p:spPr>
          <a:xfrm rot="0">
            <a:off x="1897786" y="4062088"/>
            <a:ext cx="14492429" cy="2391423"/>
          </a:xfrm>
          <a:prstGeom prst="rect">
            <a:avLst/>
          </a:prstGeom>
        </p:spPr>
        <p:txBody>
          <a:bodyPr anchor="t" rtlCol="false" tIns="0" lIns="0" bIns="0" rIns="0">
            <a:spAutoFit/>
          </a:bodyPr>
          <a:lstStyle/>
          <a:p>
            <a:pPr algn="l">
              <a:lnSpc>
                <a:spcPts val="16540"/>
              </a:lnSpc>
            </a:pPr>
            <a:r>
              <a:rPr lang="en-US" sz="17229" spc="-706" b="true">
                <a:solidFill>
                  <a:srgbClr val="ECA400"/>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DAG8N1wI52g</dc:identifier>
  <dcterms:modified xsi:type="dcterms:W3CDTF">2011-08-01T06:04:30Z</dcterms:modified>
  <cp:revision>1</cp:revision>
  <dc:title>Student Information System (SIS) Database Optimization</dc:title>
</cp:coreProperties>
</file>